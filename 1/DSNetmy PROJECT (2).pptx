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7" r:id="rId6"/>
    <p:sldId id="263" r:id="rId7"/>
    <p:sldId id="267" r:id="rId8"/>
    <p:sldId id="275" r:id="rId9"/>
    <p:sldId id="260" r:id="rId10"/>
    <p:sldId id="279" r:id="rId11"/>
    <p:sldId id="281" r:id="rId12"/>
    <p:sldId id="283" r:id="rId13"/>
    <p:sldId id="284" r:id="rId14"/>
    <p:sldId id="261" r:id="rId15"/>
    <p:sldId id="262" r:id="rId16"/>
    <p:sldId id="273" r:id="rId17"/>
    <p:sldId id="282" r:id="rId18"/>
    <p:sldId id="270" r:id="rId19"/>
  </p:sldIdLst>
  <p:sldSz cx="9144000" cy="6858000" type="screen4x3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52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6528" y="2365952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Dual-Branch Subpixel-Guided Network for Hyperspectral Image Classification (</a:t>
            </a:r>
            <a:r>
              <a:rPr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DSNet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98073"/>
            <a:ext cx="8229600" cy="4228090"/>
          </a:xfrm>
        </p:spPr>
        <p:txBody>
          <a:bodyPr>
            <a:normAutofit/>
          </a:bodyPr>
          <a:lstStyle/>
          <a:p>
            <a:r>
              <a:rPr lang="en-US" sz="2500" dirty="0"/>
              <a:t>This project aims to implement the Dual-Branch Subpixel-Guided Network (DBSGN) for hyperspectral image </a:t>
            </a:r>
            <a:r>
              <a:rPr lang="en-US" sz="2500" dirty="0" smtClean="0"/>
              <a:t>classification.</a:t>
            </a:r>
            <a:r>
              <a:rPr lang="en-US" sz="2500" dirty="0"/>
              <a:t/>
            </a:r>
            <a:br>
              <a:rPr lang="en-US" sz="2500" dirty="0"/>
            </a:br>
            <a:r>
              <a:rPr lang="en-US" sz="2500" dirty="0"/>
              <a:t>Key architectural and training details </a:t>
            </a:r>
            <a:r>
              <a:rPr lang="en-US" sz="2500" dirty="0" smtClean="0"/>
              <a:t>are </a:t>
            </a:r>
            <a:r>
              <a:rPr lang="en-US" sz="2500" dirty="0"/>
              <a:t>extracted from the reference.</a:t>
            </a:r>
            <a:br>
              <a:rPr lang="en-US" sz="2500" dirty="0"/>
            </a:br>
            <a:r>
              <a:rPr lang="en-US" sz="2500" dirty="0"/>
              <a:t>Standard hyperspectral datasets </a:t>
            </a:r>
            <a:r>
              <a:rPr lang="en-US" sz="2500" dirty="0" smtClean="0"/>
              <a:t>are </a:t>
            </a:r>
            <a:r>
              <a:rPr lang="en-US" sz="2500" dirty="0"/>
              <a:t>used for training and evaluation.</a:t>
            </a:r>
            <a:br>
              <a:rPr lang="en-US" sz="2500" dirty="0"/>
            </a:br>
            <a:r>
              <a:rPr lang="en-US" sz="2500" dirty="0"/>
              <a:t>The goal is to reproduce the evaluation metrics and result tables from the paper.</a:t>
            </a:r>
            <a:endParaRPr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Datasets</a:t>
            </a:r>
            <a:endParaRPr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i="1" u="sng" dirty="0" smtClean="0"/>
              <a:t>Indian </a:t>
            </a:r>
            <a:r>
              <a:rPr i="1" u="sng" dirty="0"/>
              <a:t>Pines</a:t>
            </a:r>
            <a:r>
              <a:rPr dirty="0" smtClean="0"/>
              <a:t>: </a:t>
            </a:r>
            <a:r>
              <a:rPr lang="en-US" dirty="0" smtClean="0"/>
              <a:t>contains </a:t>
            </a:r>
            <a:r>
              <a:rPr dirty="0" smtClean="0"/>
              <a:t>2</a:t>
            </a:r>
            <a:r>
              <a:rPr lang="en-US" dirty="0" smtClean="0"/>
              <a:t>0</a:t>
            </a:r>
            <a:r>
              <a:rPr dirty="0" smtClean="0"/>
              <a:t>0 </a:t>
            </a:r>
            <a:r>
              <a:rPr dirty="0"/>
              <a:t>spectral </a:t>
            </a:r>
            <a:r>
              <a:rPr dirty="0" smtClean="0"/>
              <a:t>bands</a:t>
            </a:r>
            <a:r>
              <a:rPr lang="en-US" dirty="0" smtClean="0"/>
              <a:t> from 400 to 2500 nm</a:t>
            </a:r>
            <a:r>
              <a:rPr dirty="0" smtClean="0"/>
              <a:t>, </a:t>
            </a:r>
            <a:r>
              <a:rPr dirty="0"/>
              <a:t>16 land cover </a:t>
            </a:r>
            <a:r>
              <a:rPr dirty="0" smtClean="0"/>
              <a:t>classes</a:t>
            </a:r>
            <a:r>
              <a:rPr lang="en-US" dirty="0" smtClean="0"/>
              <a:t> on this dataset.</a:t>
            </a:r>
          </a:p>
          <a:p>
            <a:endParaRPr lang="en-US" dirty="0"/>
          </a:p>
          <a:p>
            <a:r>
              <a:rPr lang="en-US" dirty="0"/>
              <a:t>Covers an area of </a:t>
            </a:r>
            <a:r>
              <a:rPr lang="en-US" b="1" dirty="0"/>
              <a:t>145 × 145 pixels</a:t>
            </a:r>
            <a:r>
              <a:rPr lang="en-US" dirty="0"/>
              <a:t> with </a:t>
            </a:r>
            <a:r>
              <a:rPr lang="en-US" b="1" dirty="0"/>
              <a:t>200 spectral bands</a:t>
            </a:r>
            <a:r>
              <a:rPr lang="en-US" dirty="0"/>
              <a:t>.</a:t>
            </a:r>
          </a:p>
          <a:p>
            <a:r>
              <a:rPr lang="en-US" dirty="0"/>
              <a:t>Each pixel represents a </a:t>
            </a:r>
            <a:r>
              <a:rPr lang="en-US" b="1" dirty="0"/>
              <a:t>different land cover type</a:t>
            </a:r>
            <a:r>
              <a:rPr lang="en-US" dirty="0"/>
              <a:t> (crops, soil, trees</a:t>
            </a:r>
            <a:r>
              <a:rPr lang="en-US" dirty="0" smtClean="0"/>
              <a:t>).</a:t>
            </a:r>
          </a:p>
          <a:p>
            <a:r>
              <a:rPr lang="en-US" dirty="0" smtClean="0"/>
              <a:t>Total Pixels:145 x 145 </a:t>
            </a:r>
            <a:r>
              <a:rPr lang="en-US" dirty="0" err="1" smtClean="0"/>
              <a:t>i.e</a:t>
            </a:r>
            <a:r>
              <a:rPr lang="en-US" dirty="0" smtClean="0"/>
              <a:t>; 21,025 </a:t>
            </a:r>
          </a:p>
          <a:p>
            <a:r>
              <a:rPr lang="en-US" dirty="0" smtClean="0"/>
              <a:t>Labelled Pixels: 10,336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✅ </a:t>
            </a:r>
            <a:r>
              <a:rPr lang="en-US" dirty="0"/>
              <a:t>Common dataset for training </a:t>
            </a:r>
            <a:r>
              <a:rPr lang="en-US" b="1" dirty="0"/>
              <a:t>deep learning models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6" name="AutoShape 4" descr="data:image/png;base64,iVBORw0KGgoAAAANSUhEUgAAAeEAAAH4CAYAAAB9k1VdAAAAOXRFWHRTb2Z0d2FyZQBNYXRwbG90bGliIHZlcnNpb24zLjcuNSwgaHR0cHM6Ly9tYXRwbG90bGliLm9yZy/xnp5ZAAAACXBIWXMAAA9hAAAPYQGoP6dpAAEAAElEQVR4nOy9d7gkV3Utvit27ts3p8lZozTSIIGQhTBIJCGiiM9PgI3xe7IfsvEPG9nPgLB5zxiTQQQbY0wwGBDGxkIiGJkgBMphJM2MRpNnbr59O3el8/tDn2qt0zPSXNkPXxuf9X3zfXu6u6pOqlO31t57bUsppcTAwMDAwMDg3x32SjfAwMDAwMDgvyrMQ9jAwMDAwGCFYB7CBgYGBgYGKwTzEDYwMDAwMFghmIewgYGBgYHBCsE8hA0MDAwMDFYI5iFsYGBgYGCwQjAPYQMDAwMDgxWCeQgbGBgYGBisEMxD+BcQ73znO8WyrJVuxn85/PVf/7VYliUHDhxY6aZo+NznPifbtm0Tz/OkUqn8u1775ptvFsuy5Oabb04/e/3rXy/r1q37d23Hk8F/1Hk0+MXEL+RD2LKsZf3jjWElUavV5Nprr5Wzzz5bisWi5HI5OeOMM+T3f//35dixYyvdvGXh5ptvlpe97GUyNjYmvu/LyMiIXH755XL99devdNNWFNddd5389V//9Ypd/6GHHpLXv/71snHjRvmLv/gL+dSnPvW4v33sj7e5ubl/xxb+++HAgQPa/e84jqxZs0Ze+tKXyt13373SzVs2uA+u68rAwIDs3LlTrr76annggQf+1edttVryzne+8z/MvnjLLbfIO9/5TqlWqyvdlJ8r3JVuwM8Dn/vc57T//83f/I185zvfOeHz00477d+zWSfFI488IpdccokcOnRIXvGKV8ib3vQm8X1f7r33Xvn0pz8tX//612XPnj0r3cwnxDve8Q5517veJZs3b5bf+I3fkLVr18r8/LzccMMN8vKXv1y+8IUvyGtf+9qVbubPHf/9v/93efWrXy2ZTCb97LrrrpOhoSF5/etfvyJtuvnmmyVJEvnQhz4kmzZtWpE29OIv/uIvJEmSFbv+a17zGnnBC14gcRzLgw8+KB//+MflW9/6ltx6662yY8eOk87jfzRceumlcuWVV4pSSpaWluSee+6Rz372s3LdddfJe97zHnnLW97ypM/ZarXk2muvFRGRZz7zmf+PW/zkccstt8i1114rr3/96//dGZx/T/xCPoR/5Vd+Rfv/rbfeKt/5zndO+LwXrVZL8vn8z7NpGqIokpe97GUyPT0tN998s/zSL/2S9v273/1uec973vPv1p6TQSklnU5HcrncSb//6le/Ku9617vkiiuukC9+8YvieV763Vvf+la56aabJAzDf6/mrigcxxHHcVa6GRpmZmZERP5DbWK8RlYC5557rrYXXHjhhfKiF71IPv7xj8snP/nJ/5Dz2IstW7acsJ/96Z/+qVx++eXyu7/7u7Jt2zZ5wQtesEKtM3hSUP8F8Ju/+Zuqt6sXX3yxOv3009Xtt9+uLrroIpXL5dTVV1+tlFJKRNQ73vGOE86zdu1a9brXvU77bHFxUV199dVq1apVyvd9tXHjRvWnf/qnKo7jU7brS1/6khIR9e53v3vZffm7v/s7de6556psNqsGBwfVf/tv/00dOXJE+8073vGOE/obhqF617vepTZs2KB831dr165V11xzjep0Oif08bLLLlM33nij2rlzp8pkMuoDH/jA47Zn27ZtamBgQNVqtWW1f3p6Wv3qr/6qGhkZUZlMRp111lnqr//6r7Xf7N+/X4mIeu9736s++tGPqvXr16tcLqcuvfRSdejQIZUkiXrXu96lJicnVTabVS960YvU/Pz8Sftx0003qbPPPltlMhl12mmnqa997WsntGnfvn3qiiuuUP39/SqXy6mnPvWp6pvf/OYJv/vwhz+stm/frnK5nKpUKmrnzp3qC1/4Qvr9Zz7zGSUiav/+/WkbRET7d/HFF6e//7esHaWU+tjHPqa2b9+ufN9X4+Pj6qqrrlKLi4vaGPRe/2Tr+jE8tm5mZ2fTzx67T3bt2qWe+cxnqlwupyYmJtR73vOeE44/fPiwevGLX6zy+bwaHh5Wv/3bv61uvPFGJSLq+9//fvq7173udWrt2rXase9973vVBRdcoAYGBlQ2m1Xnnnuu+spXvnLCNURE/eZv/qb6+te/rk4//XTl+77avn27+ta3vnXK8eJ1xWg0GkpE1KWXXqqUOnEelcJ6+uEPf6jOO+88lclk1Pr169VnP/vZE66z3Hn927/9W3XuueeqYrGoSqWSOuOMM9QHP/jBU/bjsTE4GQ4ePKhc11VPf/rT08+63a76oz/6I3Xuueeqcrms8vm8+qVf+iX1z//8zyeMzeOtl3vuuUe97nWvU+vXr1eZTEaNjo6qN7zhDWpubk67fq1WU1dffbVau3at8n1fDQ8Pq0suuUTdcccd2u9uvfVW9dznPleVy2WVy+XUM57xDPWjH/0o/f6xtdj7j+fkFwX/pR/CY2Njanh4WP2v//W/1Cc/+Un193//90qp5T+Em82mOuuss9Tg4KD6gz/4A/WJT3xCXXnllcqyrPSB/kR47Wtfq0REHTp0aFn9eGxzOO+889QHPvAB9ba3vU3lcjm1bt06bfM92UP4da97nRIRdcUVV6iPfexj6sorr1Qiol7ykpec0MdNmzap/v5+9ba3vU194hOf0DZQxp49e5SIqF/91V9dVvtbrZY67bTTlOd56nd+53fUhz/8YXXRRRcpEdE2n8c2hB07dqjt27er97///ep//+//rXzfV0972tPUH/zBH6inP/3p6sMf/rB685vfrCzLUm94wxtO6MeWLVtUpVJRb3vb29T73/9+deaZZyrbttW3v/3t9HdTU1NqdHRUlUol9Yd/+Ifq/e9/vzr77LOVbdvq+uuvT3/3qU99Kh2/T37yk+pDH/qQ+rVf+zX15je/+YT5eWyj+PrXv65WrVqltm3bpj73uc+pz33uc+m1/61r57E5vuSSS9RHPvIR9Vu/9VvKcRx13nnnqSAI0uu/9KUvVSKiPv7xj6vPfe5z6p577jnlOXsfwhMTE2r16tXq6quvVtddd5161rOepURE3XDDDdrcbtmyRWWzWfV7v/d76oMf/KDauXOnOuuss5b1EF61apW66qqr1Ec/+lH1/ve/X51//vlKRE74Y0hE1Nlnn63Gx8fVH//xH6sPfvCDasOGDSqfz5/wQOjF4z2E77nnHiUi6tWvfrVS6vEfwlu3blWjo6PqD/7gD9RHP/pRde655yrLstT999+f/m658/rtb39biYh69rOfrT72sY+pj33sY+q3fuu31Cte8Yon7MNjY/B4D2GllHr2s5+tbNtWS0tLSimlZmdn1fj4uHrLW96iPv7xj6s/+7M/U1u3blWe56m77rpLKfXoHyIf//jHlYiol770pel6fWy9/Pmf/7m66KKL1Lve9S71qU99Sl199dUql8up888/XyVJkl77ta99rfJ9X73lLW9Rf/mXf6ne8573qMsvv1x9/vOfT3/zve99T/m+ry644AL1vve9T33gAx9QZ511lvJ9X/30pz9N5+Q1r3mNEhH1gQ98IG1Po9E45fj8Z8N/6YewiKhPfOITJ/x+uQ/hP/7jP1aFQkHt2bNH+93b3vY25TjOKR+u55xzjurr61tWH4IgUCMjI+qMM85Q7XY7/fyb3/ymEhH19re/Pf2s9yF89913KxFRb3zjG7Vz/n//3/+nRET7i/ixt6cbb7zxlG36xje+kd4ky8EHP/hBJSLaDRkEgbrgggtUsVhM36Yf2yyHh4dVtVpNf3vNNdekm3AYhunnr3nNa5Tv+9pb/WP94DffpaUlNT4+rs4555z0s9/+7d9WIqJ++MMfpp/V63W1fv16tW7duvTt5cUvfrE6/fTTn7B/J9u8Tz/9dO3t9zH8W9bOzMyM8n1fPec5z9Herj760Y8qEVF/9Vd/lX52sgfr4+HxHsIiov7mb/4m/azb7aqxsTH18pe/PP3ssbn9u7/7u/SzZrOpNm3atKyHcKvV0v4fBIE644wz1LOe9SztcxFRvu+rhx9+OP3ssYfoRz7ykSfs32Pr6tprr1Wzs7NqampK3Xzzzeqcc87R1srjPYRFRP3gBz9IP5uZmVGZTEb97u/+bvrZcuf16quvVuVyWUVR9IRtPhlO9RC++uqrlYikD9AoilS329V+s7i4qEZHR7U/oGdnZx937+udH6UefZPvHZO+vr4nbFuSJGrz5s3quc99rvbwbrVaav369SkbodSj7Mgv6tsv4xcyOnq5yGQy8oY3vOFfffxXvvIVueiii6S/v1/m5ubSf5dcconEcSw/+MEPnvD4Wq0mpVJpWde6/fbbZWZmRq666irJZrPp55dddpls27ZN/umf/ulxj73hhhtERE4I1vjd3/1dEZETjl2/fr0897nPPWWbarWaiMiy+3DDDTfI2NiYvOY1r0k/8zxP3vzmN0uj0ZB/+Zd/0X7/ile8Qvr6+tL/P/WpTxWRR33+rutqnwdBIEePHtWOn5iYkJe+9KXp/8vlslx55ZVy1113ydTUVNqm888/X/PHF4tFedOb3iQHDhxIo00rlYocOXJEbrvttmX19VT4t6yd7373uxIEgfz2b/+22DZu4V//9V+Xcrn8hGvhX4Nisaj5H33fl/PPP18eeeSR9LMbbrhBxsfH5Yorrkg/y+fz8qY3vWlZ1+CYg8XFRVlaWpKLLrpI7rzzzhN+e8kll8jGjRvT/5911llSLpe19jwR3vGOd8jw8LCMjY3JM5/5TNm3b5+85z3vkZe97GVPeNz27dvloosuSv8/PDwsW7du1a673HmtVCrSbDblO9/5zrLa/GRQLBZFRKRer4vIo7EKvu+LiEiSJLKwsCBRFMlTnvKUk47vycDz0+l0ZG5uTp72tKeJiGjnqFQq8tOf/vRxszruvvtu2bt3r7z2ta+V+fn5dHyazaY8+9nPlh/84AcrGrS3EviFDMxaLiYnJ9PF+a/B3r175d5775Xh4eGTfv9YUMzs7KzEcZx+XiwWpVgsPqmN4+DBgyIisnXr1hO+27Ztm/zoRz96wmNt2z4hOnZsbEwqlUp67sewfv36ZbWpXC6LCG72U+HgwYOyefNm7cEhgij13nasWbNG+/9jD+TVq1ef9PPFxUXt802bNp2QL71lyxYReTRdZWxsTA4ePJg+3B+vTY+li333u9+V888/XzZt2iTPec5z5LWvfa1ceOGFp+74SbDctXMyPN5a8H1fNmzYcMI4/luxatWqE8axv79f7r33Xq1NJxvvk63Xk+Gb3/ym/Mmf/Incfffd0u12089Plu/euy4ea0/v/D8e3vSmN8krXvEKsW1bKpWKnH766cuKhF7OdZc7r1dddZX83d/9nTz/+c+XyclJec5zniOvfOUr5XnPe96y+vBEaDQaIqL/cfzZz35W3ve+98lDDz2kBUou915fWFiQa6+9Vr70pS+dsDaXlpZS+8/+7M/kda97naxevVp27twpL3jBC+TKK6+UDRs2iMij4yMi8rrXve5xr7W0tCT9/f3LatcvAv5LP4QfL+L38cAPUpFH/6q89NJL5fd+7/dO+vvHNvzzzjtP2xjf8Y53yDvf+U7Ztm2b3HXXXXL48OETHiw/DyxXwGO547Jt2zYREbnvvvv+1W16IjxehOrjfa6U+rm0Q+TRh/Lu3bvlm9/8ptx4443yta99Ta677jp5+9vfnqZ1PBksd+38R8DPe7x/+MMfyote9CJ5xjOeIdddd52Mj4+L53nymc98Rr74xS/+P2/P5s2b5ZJLLnnS7VzOdZc7ryMjI3L33XfLTTfdJN/61rfkW9/6lnzmM5+RK6+8Uj772c8+6bYx7r//fnEcJ33Afv7zn5fXv/718pKXvETe+ta3ysjIiDiOI//3//5f2bdv37LO+cpXvlJuueUWeetb3yo7duyQYrEoSZLI8573PO3N9ZWvfKVcdNFF8vWvf12+/e1vy3vf+155z3veI9dff708//nPT3/73ve+V3bs2HHSaz32Jv9fBf+lH8KPh/7+/hMSxIMgkOPHj2ufbdy4URqNxilv6C984QvSbrfT/z/2V+Hll18uf/u3fyuf//zn5ZprrnnCc6xdu1ZERHbv3i3PetaztO92796dfv94xyZJInv37tVyo6enp6VarT7hsU+ELVu2yNatW+Ub3/iGfOhDHzrlzbN27Vq59957JUkS7W34oYceSr//f4mHH35YlFLaHx+P5Vw/pti0du1a2b179wnHnqxNhUJBXvWqV8mrXvUqCYJAXvayl8m73/1uueaaazQXAePx/vBZ7to5GXgtPLaWRB5do/v37/9XnfPfirVr18r9999/wnifbGx78bWvfU2y2azcdNNN2hvpZz7zmZ9LW3+eeDLz6vu+XH755XL55ZdLkiRy1VVXySc/+Un5oz/6o391TvehQ4fkX/7lX+SCCy5I34S/+tWvyoYNG+T666/X5uYd73iHduzjrdXFxUX53ve+J9dee628/e1vTz9/7K22F+Pj43LVVVfJVVddJTMzM3LuuefKu9/9bnn+85+fuhHK5fIpx+i/iurff2mf8ONh48aNJ/jkPvWpT53wJvzKV75SfvKTn8hNN910wjmq1apEUSQij+YhXnLJJem/xzbOK664Qs4880x597vfLT/5yU9OOEe9Xpc//MM/FBGRpzzlKTIyMiKf+MQnNLruW9/6ljz44INy2WWXPW5/HssX/OAHP6h9/v73v19E5AmPPRWuvfZamZ+flze+8Y1pfxnf/va35Zvf/GbajqmpKfnyl7+cfh9FkXzkIx+RYrEoF1988b+6HSfDsWPH5Otf/3r6/1qtJn/zN38jO3bskLGxsbRNP/vZz7Txbzab8qlPfUrWrVsn27dvFxGR+fl57dy+78v27dtFKfWEedCFQuGkij/LXTsnwyWXXCK+78uHP/xh7S3s05/+tCwtLf2b5vNfixe84AVy7Ngx+epXv5p+1mq1nlCh6zE4jiOWZWn314EDB+Tv//7vfx5N/bliufPau55s25azzjpLRES7v58MFhYW5DWveY3EcZzuGyJ4g+e18tOf/vSEPecxjYTe9Xqy40VO3E/iONaoaZFH3/gnJibSPu3cuVM2btwof/7nf57S5ozZ2dnULhQKJ23PLxrMm/BJ8MY3vlH+x//4H/Lyl79cLr30UrnnnnvkpptukqGhIe13b33rW+Uf/uEf5IUvfKG8/vWvl507d0qz2ZT77rtPvvrVr8qBAwdOOIbheZ5cf/31cskll8gznvEMeeUrXykXXniheJ4nu3btki9+8YvS398v7373u8XzPHnPe94jb3jDG+Tiiy+W17zmNTI9PS0f+tCHZN26dfI7v/M7j3uds88+W173utfJpz71KalWq3LxxRfLz372M/nsZz8rL3nJS+SXf/mX/9Vj9apXvUruu+8+efe73y133XWXvOY1r0kVs2688Ub53ve+l1KKb3rTm+STn/ykvP71r5c77rhD1q1bJ1/96lflxz/+sXzwgx9cdoDXcrFlyxb5tV/7NbnttttkdHRU/uqv/kqmp6e1N6y3ve1t8rd/+7fy/Oc/X9785jfLwMCAfPazn5X9+/fL1772tfSN/TnPeY6MjY3JhRdeKKOjo/Lggw/KRz/6UbnsssuesN07d+6Uj3/84/Inf/InsmnTJhkZGZFnPetZ/6a1Mzw8LNdcc41ce+218rznPU9e9KIXye7du+W6666T884775SiND8P/Pqv/7p89KMflSuvvFLuuOMOGR8fl8997nPLEr+57LLL5P3vf78873nPk9e+9rUyMzMjH/vYx2TTpk2a3/k/A5Y7r2984xtlYWFBnvWsZ8mqVavk4MGD8pGPfER27NixLCW/PXv2yOc//3lRSkmtVpN77rlHvvKVr0ij0UjH8jG88IUvlOuvv15e+tKXymWXXSb79++XT3ziE7J9+3btQZjL5WT79u3y5S9/WbZs2SIDAwNyxhlnyBlnnCHPeMYz5M/+7M8kDEOZnJyUb3/727J//36tTfV6XVatWiVXXHFFKsH73e9+V2677TZ53/veJyKP/rHxl3/5l/L85z9fTj/9dHnDG94gk5OTcvToUfn+978v5XJZ/vEf/1FEHr13RET+8A//UF796leL53ly+eWXpw/nXxisUFT2vyueSKzjZIjjWP3+7/++GhoaUvl8Xj33uc9VDz/88EnFOur1urrmmmvUpk2blO/7amhoSD396U9Xf/7nf57ma54Ki4uL6u1vf7s688wzVT6fV9lsVp1xxhnqmmuuUcePH9d+++Uvf1mdc845KpPJqIGBgScl1nHttdeq9evXK8/z1OrVq59QrOPJ4nvf+5568YtfrEZGRpTrump4eFhdfvnl6hvf+Ib2u+npafWGN7xBDQ0NKd/31Zlnnqk+85nPaL95vHzO73//+0pEThBxeCyl5LbbbjuhHzfddJM666yzVCaTUdu2bTupAMRjYh2VSkVls1l1/vnnn5Cf+slPflI94xnPUIODgyqTyaiNGzeqt771rWkuJreDUyqmpqbUZZddpkql0gliHf/WtfPRj35Ubdu2TXmep0ZHR9X//J//U8sXV+r/TYrSye6Tk6UZHTx4UL3oRS9S+XxeDQ0NqauvvnrZYh2f/vSn1ebNm9N5+sxnPnPSdSyPk55zsnuzF4+3rnrxRGIdvbj44otPSEFbzrx+9atfVc95znPUyMiI8n1frVmzRv3Gb/zGCff7ySAkXmHbtqpUKuqcc85RV199tdq1a9cJv0+SRP2f//N/1Nq1a1Umk1HnnHOO+uY3v3nSebjlllvUzp07le/7WrrSkSNH1Etf+lJVqVRUX1+fesUrXqGOHTum/abb7aq3vvWt6uyzz1alUkkVCgV19tlnq+uuu+6ENt11113qZS97WXo/rV27Vr3yla9U3/ve97Tf/fEf/7GanJxUtm3/wqYrWUr9HKNZDAxWCOvWrZMzzjgjpcINDAwM/iPC+IQNDAwMDAxWCOYhbGBgYGBgsEIwD2EDAwMDA4MVgvEJGxgYGBgYrBDMm7CBgYGBgcEKwTyEDQwMDAwMVgjmIWxgYGBgYLBCWLZi1pdJZehVb3glfaOrlzx03x2pfcvNP8PnD0JDdqkOmb/hcWjzTk7qWqFR0EntWh0yfkmMykONOkqaLTX04xenUdqu1qimdrfdTO1OHKR2pd/Tjj/jjPNSO+djqI5QMYZqDW1UCdrYW53p4DSE0hePws5R/0MX5xocmdSOb8weSW1bVqX23Dwqmhw9vCu188V12vEXPfMlqb1lG8Ysl0e1kqB1CAeEkBAsD1W0c+WLY6ntZPG7hbu/kdrdViu1rVCfl3YXgu9HD6LkWVFBvWftZvRx+6oRnDevq0gVihDV71uD8ovlflwz40LTutWZ0473C+XUzntQd8oXoPU9Oob2Zir6GlEWtJstDq9YuCE1O0XIcX7271CQ4P7b7tfOtWHTjtReatRS+4H7H0jt6UXIHR6a0qsG1Rfwna2w/mJal1yEoL9f17u2LIzFzGHoAjebuF8Tm+yE5BVDXRnLcrAuXAcFQSyJ6DfQibYTXfoziakogsIxMdlCh1iurlvuUDvXrsWaedtv/V9qF64xPY09JYj19To6Npravs8l/TD+7Sbu3W4Xe4qISEI66cND46n99IuemdprThtM7dp0NbVnp3Wp3CM0L/P3/31qH5uHatveh7EHZyp65ad2A+OkqJtnnom5POP8M1O71MV9LCJSHh5I7UYVa/SR3Whzpbg5tWemHk7teht7mIhIoYD111dEydJiBWup1sV92D6u3y/5ARQ5OXp8AcdUsY8suGel9vzR72nHZyvYBzevw32cLWMuDh+gfTfEXrvU0KtuqQiD6RXxrPjgX/ypnArmTdjAwMDAwGCFYB7CBgYGBgYGK4Rl09G1RdAVs0fw6p/p0zOcOgH+rwS0TKEIuiRJqAh8AAot6Oj0mEOlrGxqahDg86ERUBcbtoHqERFZmgb18siRw6l95HA1ta0OKOvhSdCeIiLFPqJuQlDYxRKoPpdK2KkIVJ/j6TR9aGMsVhdhj61F8QTPAe3ZjPQqK/98P6iY6VlQqh5RJ2dcCNoz7+k1geeqd6X2Q9dfj+O9Smqv3YjyaWtXnYvfNPQ5blVBj/pZ0EWOC6q2PA56p9nBb0REgln0revj3O15UHreTBXnymBcM4N6sYRiEfPfP4z57+sHXdReQgnKuRlQaCIii3VQ8MSgi03zNT4BCm5oTL9+nubfy6EvuRh9HNmMcRkYRN1oFevFCZp1VKBZrKLN01NoY72Nc6ku1qSIiGvTPBFtGwk+tz3Y44M9NaxzmLP5uQM4pgtq13NwH/o5rD0r0sc16OJ3XBDKJnbVy+I+8hyd3rNc/LBbxbpodPDeoOh+cTI6nR3TRVst2HYbe1dpHOulVsV5Cy6oURGRtRsnUrsyCPdRQlRpfRH9X6rptGu7hf0qV8TxWR/jlxPcr11yGXg52itFJFLYV8IQe3Imj7nMZyupbTnD2vGJoEqRxLhmEGJdzUxPpfaRGX2N1e7BPlonqtpKMGanw8MluTLWQUj9FRFJfHqmdNDPgwdgtzu4DzPkxhIRGa5gnLIF2IUcGuAVsIfbie4yyVew34/TWsiPwRWYKVRSe9MY5rFZ19drp4XrJ7bezlPBvAkbGBgYGBisEMxD2MDAwMDAYIWwbDo6jEBX1DtEIcYd7XeLs6DUml1QSsoG9ZTNgVLJFkBjZPN6c1yiZRTRg3GIvx1adVAi/YN6JOH4BKIirQyolzjak9pLVRwzRFSTiEgSgC6pzaNfvgcqolRB++OA6TGdrhC3grZYoDBzuSqOoQjPvrxOI525GhTJ2avxXULH7J1BhOft+27Vjp9cjyjJjVsuSu1sFu1cWATtedM//SUOtvS+rN98Otp1zhmpXabltETFuVsUmS4iIj5onf7VaFeYIwrZwW8O10BPuRGoMhGROMZa8sfgWvByFXyexXopFnWavhOARpyZQju7MebS9nH8Qk8h8iQAXTdC622wSJTUFK6RcYmCzOoRvYtVUKr7DiMC/8GHH6Zf4T7M5HoikgX3i2WBKu0roM8FitqPuvrf4M3OfakdRjienRG+BWp31QDOVchuFka9W03tBlHozTo+Xz2GKPuzdz5VO/7oDNwvt/8YthVTdHqEMVYB+i4iYlnom2VjXeWJwhwYhmuhWaP7zdXHZXAY3w2P4X7P+KA9wwB0Zrut7yNzs9gjmzVEVLsZrOVuiLFo0G/qVX29Lc4is2J2HntfqLDGVIi5s0Sn6RXtPW6GXCse9tf5KbhSlub1PXVuroq2UDQ+U9tugvPmHaKWW3AFiIgkCu2MElojAR1DrpABhWuLiKxaj++aNP9zUxjXBRdzHzbJLyIi/hDGL2pjv5p5BOddnJ1O7XJQwedL+r27MAeafqmLObvijc+XU8G8CRsYGBgYGKwQzEPYwMDAwMBghWAewgYGBgYGBiuEZfuEI/KdNdvwH3hRjxpSE+kz3Q6p6zik2pOn1CMbXH4U6kozDinN+Hlw+30WhenHFbSFQvNFRPIFXL8SwbdRyMMv123B/xDq7hOZq8FP4CpSGhqGL6x/COkrFoX5h56e1lOPq6ndmYUvK7LgP2nXcb0g1MPcWZ2ovw/9n1wDX9SZZ8NH1f0lqN6IiByrop9Hp+A7nprCmDslDMBp5+5Ibc+DkpKIyMIclGNu/OZfpXYmwRitnjgttccmdf+2Y2FsFqbh++yS+tfAONIHMqQylOT0cx2L4KuvPQzf4WIXY7F6GH4wu0fhrVDA+CuB/6dN+UqJYI5tV1dCi8nN1GphjTkR+bGL8PEFLaSvVEp6W5oKbVYtWvtZ+H7jLqUoxfrtG3Xpmj6OGRtC+srOC96S2t0FPW7gvgfvTG32dwY+fHmhhXW5QKperY7un+6ysJXCMR2KDzh0CGta9bwOtGL42tuU+icWq4JROmSk+/pj8mTHlBKZG8D4VYZpHyD1qzDWUyX7SFmsfxjqWfmM7odO26JviVLuwz328AP7U3vhOHzFFvlOW5SWE/e8J0WkTLZEsRJtGos2pYaWHd2n7NO45LJo6GAF69oi9bIgW9WO92gfbs/id1aAtWhRelguj/F2eh439S7aEtTRZpWc/LEUJfqeqBKMzQilLg7n0K/G8FNgT+lqedmh9aldyMLXHyyREhzFQFiC62dFT93KU6xFK35y77bmTdjAwMDAwGCFYB7CBgYGBgYGK4Rl09Fr10PsemIc4vq1BV3RRWJSK8kQddQC3dBlusUFDWS3daqv0wFd43hI/3Ad/K6UA22Zy+p0hZeQAhOlDMUWKJpak9IEjunH25RiNTyMfvk2KJYcpYn4JEieuLrQ/679SDOZmcf11wyjjQnRke0elalOC9RNy8V3QZdo8iKUfUZH9L6MjOHvrXXjoJGiDn5X64DaPXgYqRDHq6DQRETy/aCEz3/as9GWWVDLR4+Ddn1oLwp5iIhYTNVTOsNYGWNZEczxwiJo6qiup0wM9oNGSjJIdzq4gHE9fBTpA26ij2sug3GpNWHPzVZTW1lIfSr064pZUZMUffpAZ+cTKF4ttnD9eVJvWuwQ7SUiMzMPpvZSi6g+scjGfAe2nh4Y2qDQXfr7emERbXng3k+n9sYNelrQ2dsgdu8luHcfJgWjFrVloYY2ZgVjJCKSL4PC9yjlJ1si5TyiUGeq+j4ShdXUthIq9CBIDYlttEVZ+np3hOa5je+6s6DQQyoYk6X0uMF+vUjIIFHQGVovKiaJNXKxWJY+Lyom2p1St2rUxEYyRb/B50Gsu4K6HewdHXJZRB72UUvQl2wOe4KIiE3j0j+Me2d0FdYVq3/FoT4W7TaOz9mkhkUcvOthjvtZUVHp7pd4GkV9FiP0q0s+ng4V8VFdPcXo0EGMmU/b7cZR9GtgFRW7ifSxTMgdVKAszK7CPt5u0/OMUiuVq7s/PEr1zIo+/6eCeRM2MDAwMDBYIZiHsIGBgYGBwQph2XR0ZZiE8ila0LZ71GXGQV+U50FRBS28+ucyOJfl4fhuh8TFRUSIbsoTVTncD1phaBxFB1SiR1fPHQC999A+RHhOTYEq7evbntpxpEcSWiQw7rpEB3dBNyxMgYLM5kBbJZ6uDhM3QJ1EDmisw1TH1A4xHbk+fWqa1DeLaMzoKKjGXB20caWgi6X3V0Cf5KgecHYQ8zLiwl5Nqly1hk6bTk+jz1OHQEHPz4J2zZCS2NYzoLAlItIlWum+XQdSe9/D96T25mo1tbdtRXTv6NqKdi5FylpL8yiIYFNt5kIe89L29OjqRYpCbyaIngzJM7JQx3oJlE5HF1ycr1JAv8b7QceWJnC/HL4L13vo/oe0cx2bBgVcJ5dNQAp1TG3aWb0tNqke+VQQYdMq1MXesgPug8YSXA4iIvunD6T28XlSdqKo91FaLy1ymSRtPVI4S7V68zSWKo9I9/kq7velGdSVFhGxMzjIdohr5LrDpLJkiX7v2zbWX/8Axn/VZii82UQbF/OUcbB+m3auUl+FrklR1yGO7wQUAd+GW0dEpF5FOxOqYNE/Dqp4cISKA1QReXvwgL4nxQmoYoeCuBPhSGHsldvP1ulkSXDN8QncF1tPR/sfvJ+itlt6YY56jsafpkVRRLTjoi8Fqq3rZ/Ww8WaI9Tu9gD4vUW3mNmW1NOp6+kpyFPfr2BCeCdYYrunk0EjX16+fUNEM38GYFYoYyw5lSRRzcIV0l3S3WKCwlj3R98tTwbwJGxgYGBgYrBDMQ9jAwMDAwGCFsGw6mhPIw5gFtvVXfEXJ4EWqdasUXt9LZfAofgHU6NzULu1cxGhJeRBRalYECjZowk5cnRLbTaISR4+jaMMOEqIoFVBD9aFdt2jHz1Jyd3UR9FiiMBbNOhWZSNDHxNOjNYM2qI9SBuNiU91hjwpDVIo61djIgq6rlHGusTVov50FpeNGvbWZid6zQb2QN0ASBbqnL4elMdSnU7gDZfRt8wb0ZX4f+nKkCqry4cN6dHWNCmMUSrjOxGlwLVSGQS/NNUDT7v3p97VzcXGCtVtfktpr1uxIbdfGPNbmdJdHQm6G8ggi7QcmkMgftUG/1ylSW0REEQ0ZCiIxXR/9ynigRm0btZi1QrsiElEt7iDkIrxEgZKgvR1RdK6IuCQk4uUxLpx0YLtUPGRkq3b8wh3/jLYQ1xhRIZXFGcxdO6YbtEdop0nFTAaoYEtlAJReltZ+UtS3Ii60EMbYY+bnKAMhQluSHrWPkMT+Fe0LIdUAtqk2cl8Bg1Su6FG0lsL6a7Wp/zW4mDrtFv1Gn9fZGYxTbRHfDY3gXAPDmK/RMbjIKqP6erNtikhfwp4We+twfAX397Nf+Szt+HYH96tDEb5JB3vf3EHsqWGkj2uX7t2IxIk4Y4VrvI+uqqR2p6m7HEq0j5XL+N00Zdx02hg7R+njalMGSj+5KMdHsI8qyoqp99Ssjl2cLyZRjpCiy3ntN3ys8bqeyCMdF+6nONFdCKeCeRM2MDAwMDBYIZiHsIGBgYGBwQph2XQ0aw8fIfED1RnQfmcTLVUogZKyqJ5uLg+q1Se6YHRMj+jNF0E9eXlE+dWmoRE8Nw96cfcRne44un9vap//VNTQPZ0iJBtUj7jdXKcdbwVEf1igxAaGQAmVK6Aw6wugIRoURSki4jgkUEK1kV0PFHbWA42Tzel0tk9UCOk1SEAiHoo0vVVPDWAvBg3nEY3X6WAJMNVV8ok+L+s0/5ADetqhSO98G5SQQzV4vQi1kEVEljo45sEDiK7eewzR9GNdRG6u3wCad3RCP1dMyfwHHvlJat9z51dSu38A51o1CS1ZEZG1a3BuIQrYSrCuKqNwhWT69CT9Zg1r+ZEZzP9DexB53F/B75mpjG3dZRDxlBM9RrLlouiODQM9CtNy8H+HKFzVofsiAr1Z7Nfr3g4M4h7rH8K6FqItuy2MC1OVc8d1Xd5WiOyAiGjrNkU32z46XO7RfXczFHm8iGPY5ePQGnd6Nb1JRztuk6BLhPnizA4WYfG9Hmqbop3rS7iPqlQnenERa3phUXcTLFLdX3ZLlYcRqTzSoOjcLNZR/4BOjV/8nHNS++zBu1P7gWPYh2tHEM1f7FmvxT59j30MMS3MgFyKe/fpe2onhjshR+OUpfmrDOIac+T+OXpIF3RptODmSWKq+UzCF40Gadvb+j5ULFJdd1LbyNLnXXZROj3R1VRzepgeY5c8EzWAtV18Bu3/1j/cx9/I4dqB1O4kJjrawMDAwMDgPwXMQ9jAwMDAwGCFsGw6+uAx0EAzdbzuWy2dYgio1FgQUWSbCyrAsWC3SIs0CPXXeF+BonECRP52KUL01rt+nNoPPqSLH5x95tNTe2wM9FpM11dE+1UGdeom2bwOx7TQtpFJROUNj21O7U4dFNpiW9fCbYcYl+oSxs/3K6md80H1eD3l0IS0lGOiAdsdKsVoYyxVV7++T3SPE8JuLWEJJB5osybRgXZGH5dyEY1j10KH6UXS0e4wHysiVg3nWz2MdeVRybo2lS27/0G4FWIPFJaISIWo8g2bL0jtraeDdm7RGO17QNexvveeb6X26GpEmm9ci1KQkwnaGyb6uDbmiVIjLecMRWIW+iH+4NLx/ePQYxcRqTewLjMhxm9hARRyI6aScz2l9Jitsx2spRrptt93B2i0xNPvlwMPQOwkJvdLHOPExRKoeTsHmtd39Gj+4RH8zlEYl4AELqYX0JdOXRe4KJQ4pBtrJKYyg1yi0LL00nJOBr8rk3xyZhT3e0Lizd0m1v7clK4vHnTRtnYbe9LsAujoR3aDfp+dBh0sItKikpO5HNPL2FNiEmGp0f2Rt3SXBSUtSCWP8c86OO/uGczdvl2I4BYRGRqFK6lQxLiGMdbIA4fQ/u/9CK4/EZE4i7a5pAFvxYio3vNXcDEl5OJpdfU54tKbecpyKJIQNJe6Tdr682Goif8Xs1jvhTzsiLS+7Z6xtC26YVzS7Set8RZFvYcLGMvaEvZzEZE23WOdUHdFngrmTdjAwMDAwGCFYB7CBgYGBgYGKwTzEDYwMDAwMFghLNsnfJjSf370gztSe83mp2u/K3ThG4hIqD8hofxOGypDzSYLsuNzEZGpKfDsd9z909T+8Y9/kNrz8/DLXHwe/HgiImedjVSkOMB1jj4Cn4fHvoSiXu+yWCLlFBKrz5IvpFCEX6GvWMGxoe7UPT6Noa5rf/rgXCEprcSW7u9Tms15Liwojz52Aj1lIyGfthvAFxQ5lL7Bgvgx5mv6mK4AM+/j+sNjVN+WauB26Rr5gj4Wlk8pBCHG3OnCrxVTilOkSPUm1v3T3Rh+pr0PYV3u3g07V4C/Z7gCVS4RkQ0boRqlyBH/yGHUOr37ge/gXFk9JW+0AnWj0Uk4H1VMBTvI9+WXkL6xfh3qH4uIrF2H+r6tFsZ86ijWfpVU4KKM7nuam8VYOJS6laXiBjPzGJelWV2NySJlL3G4zjXV0KW4g1wB/U0iPZWl28b8W4rTikhJzMXnbQu+VhGRTkIpWrTGbarVqsjHZ3n6eneE7iXyMR45SPXLKVagTcVTBpJe3yHFTXBtZ4phcKiPtq1vq1ZEMSisuEV1e2eOUaphC/7GXInmRPT70jqO+Vuo4d5ZWMQ6mDqo+y59D/5ti4qcJG3chx0qGFIPdCW0gGqsKxf9bNZxnXYXtdOjJvmBrYp2Lo/qoluk5BZSmmtCKWnDBX1cV00ivdCmVE+XCkjYtA93WnrcQYfS9QIKA6g1sHYOPQhVssZB2Et1fU/kdpZIBXI5MG/CBgYGBgYGKwTzEDYwMDAwMFghLJuOLuRAA+55AMpE3/7Hv9N+99SLUa90iGrK5i2EeisFSubwQVAEu/bepp3rvntBa8zOVVM7EKQDlLOgmgZGILovIpLJ4v8hpUa0mlD3YVWsIqmuiIj0VaAglBRwfUeBu8hkQePEAcao2dbD8bkWZpfoKbsNRRmbat0Grk7hMkXDylYhUY1hB1RVEvWkA1C91Chg6gbz4lKhgJBSVJYo9UpERClSQyIaMVPH9R0Sx1eurv7lUX3aMqU8VEaQ5hJ7JA5Pams1RUVMRSSh1I6WDdq5UMR5J9aA9j0+p6cYHTgCZaulejW1S/1Q5lpDRTKCnkIFB44grWfXnn9K7Rz1f/1ajOWa9aC/C3md9lQR0p18F38fb9nytNQeOh99DDP639D3/BT1mBfnoGo3dRx9rC+Ajh3o12vNDk+ibnOrWU3tY0ewRmfILTU7D8q90FNneXgV6FHtviLezyGqNZvT67MqIZcV0Z5Li0RVEk0sUU8hGQ/39VIDVPWDDyHlpuzCFdVo4TdzuuCVZFy0U5HLrFXHPRYRZZ+jFBkRkZDqlAcB1v7x45T6RIp2Nql/WSX9Pu7MYY3YB1GLvEruq3aI8zabusuh08DeV6lgjS8sEgW7By7FRkMvmhCSKypYpH2YXGQT47jf9h3Gemk29drEIcm/RQ0MOqvtZakGcF9Ov18GK3DtlKgAhEP7WLtLKoZNfR9LSL2t1cD4H9qH587+I4fQ3jmMnbJ0JbPKANq5afNqeTIwb8IGBgYGBgYrBPMQNjAwMDAwWCEsv55wTCpNrWpql/W3cvGoxuNiDLrr+7femdp334po0/k5ojYj2CIiFkXFKiHFLQe0xLatUCM69+l6pHa+yNHCpOY0jOMjEi7nmrsiIi5RPJZP0Z5CkZwZUtCZBvWyexfVjRWRI/sQkR0SbZuxcc2I6ZlEp+cSpmEVKMmIor6JjZagq1PAEUX8qYj7QpGbLhUAIHrJ93Qaycviu1wH/U+IqbWpGHSpT4/iHZwAVZzNEXV2nApLkFoat7cb6n83dmK03y2ABpyYxBidffrpsC2dzl5oIiJ53z7M2Z6HiZJ6CHWum01dTamUAyW2deN51GaibeugBHd/H5HOuYxOr21YfyG1H64UP4P+dzqIQs0XdNpz9QT6vHoSVOO6Teem9uFDoM/rc7qykxA9JxZF61LUvUdRqMUyKOicp2cWcKnhJi1M18IxGVL8cnpU2eY7uOZSDWMZh1QDlyLjLUdfF4qUluwOKOS8iw3Lo6hpS9Cuek2ntg/PgsLuagVP8BuPrp8v6/PSl0G07OIM2lxvkuJXE+s9rKG9cU/RgqXFamo3D+HesYvYO5VC+zNZPeo824e22KTq1j+ENldWoeBJ7RbcByIiHaLds1nauyzMy7CDtVDaAGr6zvtB7YqINKkwhpD7JqG6wRFlT0SxvqcF9LsaFeLZdwD7yLR7hH6jH29Tzemj8xizh+9FXe2DB6EIOVLC2i+U9AjowX64mayCfi+cCuZN2MDAwMDAYIVgHsIGBgYGBgYrhGXT0btu/4fUzmWoVqfofPTff/WzqW07oKMH+0GL7PylS1J7317QYwf36RRuQonhUUJFD6gYRCWPiOJiQU9s5/8XK6Cbah4oiqYCjZGIHj3XDkn8IAJ1aFM94HgeEXPTB0AJzRzSqb6YojeZqhXqS0L1LqMeEXAWO7F8jL+Twfi7CdqrXD3Sm/UDgpAiMSmSMIkx3kmE+bIincL1HLQl6oI6ayyhXaUK6KmnP+ul2vHbLn5mat9/+42wv/Xt1D54DGPZosjyKNapQl7C7M5oVEETd5r4vFDW66mODVB0t4MoaJcKe+SzmO+js3p0dZOidY8cI5GCkEQhKIJ8bAg0c6kI+lhEpFbDWjp0+O7UTkj0ZmIStNe2nagtKyIiiqJ4YxbIwBrftAHXz+94nnZ4QoVNGnP7U3vNWkTh7tsDt9LUcay3RlsPKfayWCOKztvpYr58oi0zZZ02bZCgT9hi1wRRuFQ0wrZ6aivHRO8Syz5KtOvIOIRb5mZAeR85huhgERGLpHIq/Vg/fX2gYwcHMZcTq/QsDS+PY+bnq6ldPYZI5/kZRJrb5KJqB/qeND8LEZnmIo7JW7i+zwXHXT2aP+zi3o9trKv+EsZlchBjVyrq89Kuwa3VbJNQEN0vNRJaEZuyHIo6te510eaYimlbtF6zWdzvI8P6/VKsYJyqXbhpxvqxJw5P4vnQWND3xECROBDVnD5K9erv2YWCL8U8+jI6qc/LZAd7zPp1F8qTgXkTNjAwMDAwWCGYh7CBgYGBgcEKYdl09NnbkIAcdEB1zdV06mbxOEQCMj4JSdDr/twhUD9+gr8DVq1bq53ryF7QYDZFyEYBKIqDRxG9duywnpi+ei2LdSASr7WEaN84AKXi5vXEdEVUbZyQZi3pxFYXKcn7AEXi6dKiknB9Vor6lghT4NHfRCrXI0pBlF5MlGzUoprNNig5ldXpuYhCOS2bKF2i1oWiTROuASs91DZR680WaKQu0dxr+lG/eXI7avuKiHhUB3XNtotTe/sAqKM6aSfnbdjfuaeqneunP70ltQ9PYSxmG5jjQ4dB8246bVw7vkD64FYHlFxMdK5N9WB7SvhK6BDtG4EeK1JUa7EPGrdRDNrs8D6sbxGRbhPHD0wgurkyDmrfJt3y23+GvouIHHkEutDlEo5fPQnaetUqULB+qHem2walllgY87E1oMBXb8A92mlijqeOQihERGR2+sHUXmxQdPsxqj9OVGm2R2/ZzSNCt+vjvu6QK0RR/WaV1+8Xm9b45ATW26WXYi3aLujwe9BcOTqlR/GOTmBdbtqEsRgaBJ1ZKGDuSsN61HuxiEjazQp2YiGz456f/TC19z4AKn7puO7+CGmNZhy0q6+I+e7LY41spMwAEZF8kdwxlFmgutgvfNLTt5QuFpIoiponffEW1Xj/6b1343h6zXP1oHFxSNTEbpGLjIR6chmax7I+rjs3Yy2uGsUcD+dxrqMkfJLz9X2sUAa93Z+HJvyzy8hy2LFlB9qbwxg98BAEcEREbIqO/9HP7krt571Id8WdDOZN2MDAwMDAYIVgHsIGBgYGBgYrBPMQNjAwMDAwWCEs2ye8n3yvswvg3GsLU9rvcnlw8G4Wz/haC76FWVLJqjZIkLxHHaZABSAsC/6bFikQHTwK/82tt9ykHT+6Bn5sx4ZfauZgFeelepnFQd0nXMrhO9ch4fgY/rJaHX6KpQX4uhdm9TqeDUof8qmYRKZM40VqY7bqScXhmq6K/MNU6CF2SPGro4+lK/ArZhxKvfIolYdUuYIW0gSsHiWxkIap3oaPjmMFXB/HZPv0GrxCvjghRZ8jVfRlYRF9fNp2pA5d+RvwIT/6/7em9te+hfSNG//2vWg/jaXb05dcDmusXEBfSiX4+2wfviNl6T4yO0upa1yftYVrqhZ+U+mDH6t/rV5AIexg/Bu0Lg/th++4TspnuZzu4xqs4NyspnXkKHxU994HtbpMQf8bfO3kaam9ehJjni9SzWlKA8tkEGexfqvue1y3Bf+3PcxxYw4xJHNT2FOO0P4iInLkMJy0IRVMsWhd2fwOEfek0SV0XwiOma/hvphcjXnduI2OT/R9IEdpOgNDWMu+h/nmesZJz/H12oHUDkjxbbCIdbFxfQXnojrFbq7nXFXMq+fDP7v9TPiEMwrxEAND+rgElPIURlWcdwn7VZ0UuxJH30csKpiiaCOwqEiL62OMEvI1K/Ibi4j4VA9bZStoF6kA2oL2e17P86GAe3RwCHNUyFHaIcXfZDL6WIQU85MhVbqztqIOvUtBIG4Ja6r7j3pt4uYSHqXztSf3bmvehA0MDAwMDFYI5iFsYGBgYGCwQlg2HT0/g/Sb6VnUF20s6LRpIqBC/DyoK5vj00npf5CUWtavqWjnKlCaxRJRnbEFuiOMEPJfbejU+P7doLTWbYFQf30RtPHSIqjtgY6uDmOPgYrIEnXSbaPPM6SuMzuLvoehTiNlPAy1Q7VOgxhj0e1SbV9PD8cPY9BIXSpGYddAIwUOaLso0kXEM3YV56J6vlYX9Gqc4PoR0aGurf+tZhNtLjQuHlHjo6MTqV0Z0lWq5tugm45Ng17tLuGa7H5IEozF4pK+ZBeWMH/HDoO2LQ8gFWnNJlKpGtALBbAmPHcr59Pc07i6tk6pOZTK5HPTiDrrhlXY85TSJDq9Zgu+C6iAQpFF+On6U/M6Jbb3fvRfKaLWB5BKtHbj5tQem9yoHR8kmIvb7oaIfdjBeq2QEtrEBNU5HtDXSIaoecfBfsFjvHHbjtTeeeGLtOPbEVIdD+yFEtk99/4An+/bg99b+vUnB7DmzjkH1Pj69RgLv4I1lh+A+lahpLsJagvY+7otvnfJ/WKB9kxILUxExLLxXVADbb1ILqMW7SmKilQ4jq5ImOvDWhgkCnczpZC2ZuHiCwJ9f16aR18CqqteymHvzA2QOmFGv98iXrNUzMOmPSXqgIK2qXZ8qU8f12wJc9ZYwN6ZUPGaLFHLxaLufqm3cMyeA7hfBihFqz6I6y+1dPWwIMJ3hSzd7+SKS9p071EhkFpdL7ATBNiHXUojXA7Mm7CBgYGBgcEKwTyEDQwMDAwMVgjLpqNnl0BbRiQWLkTViYgUPFAplRGo3vSVQSGvHgb1s3nL9tSemNDpuUoJxzg+qKNugkIPtca61G63dUmWkCjZRw6B3lpqgcar1WEHXV1xq93E8XEAGmppCcfMLoB2azRATQ9Poo6miIhTAF008wh+112qprZP6k22rVPjHNVrE7XdVUQbE1VUzOsRyZaHNkcULapI6cVOMH6OgFLLejq95uWppipRUpU+0MZrt4ECVN3eYhRos0ccbo2UyJZqoJqOzIJSq1R0CnaJhP6z8cHUfvqFZ6b2qjWIGk56aMtuixSJqJl+EeNX6aukdivojRYlCt1Fm21yOdgJKNBWGxRglPTUNyX1rVh4voCQCo5YOV2WzS1SHdYW2lldQuRx9U5kE9x3x/e04/MUbTq+Cm1evR4qUV4GbT40c19q37MLLh4Rva746km+x+EacCm6Owh1hTffRV82bYDi17o1qI3c6eLeW6qBgn0UGOfxSaz3boOyDChKP1vA5Dc7ejGKvQ/sTe2jhzHmXFxg1Wp8Pryqoh0fkmtn+gBoX2VTbWQXe0L9OPo1Naev1+oUxqXTwtq/73YU3MhSBH9+v16jvVEj2rxDBV+o9k1zkRTOWvq9a5ErkWs2k/dDnCyOz9h4Vjh53UXWooyZVhfjl/GxDw0NVFJ7YkQ/vkgFNKIGueVI1csaobrmPcc3KZukTpHiCwfQmQ7VZd+8Dv298JwLtHPZCt8Fib6WTwXzJmxgYGBgYLBCMA9hAwMDAwODFcKy6WjbB71kEfWQKen03GAJ9MO5p4EGvOR5V6T22WdA0H5wDDTt0Ij+N4FLou61JVA/jQaowmbrl8jWqcr9uxE9eXQG31U2gKpcGiSx70OolSoiMrsHIt0x1eHsEr0UJ2hjpR+R2mvWQexARKQpOKZ6HGO51MR5F4/hevsW9Ei+I4dBI44N0jW3viK1jx36VmrXj0O4QkTkgrNB423ZCKrcpRUQUdGGpA3b71Fetzha2q+m5ro+cFoT5GaozelUZYMi3YMmKKmQkvmJ6ZPBMmikhYYulvHwfYjiFRJ+X7Uec9FHogiH9qO9IiJHHqEIWy6MEYDqGx1DVGdlUK9ZvTBP1JeP4602InrrSxi/48dBk6qkR3ygDApY+RDnn54Hndytg0IL6vq8xF2iCqkwiFiwLQFVZvUUTWg30f5HHgK1v28fImotB3ToyCgi0Ldu3qmda2iU7lHi0++4+19SOwohrrNmlV7kY8tW2hcGMP6dhNxHFHU+NKLXml2/5TK07SlY7/fOw2Xwvc+8D8f3w0VWLiKyX6RHYGQOLqtcFnRysQCaN6eznlrd5UP7QZuW83A5eWWM/eIc+tjUl7tYHtOuuI/2HDyQ2kkAO6AMExGRjI/1W6hgjakW2j9zHNRwp6nvQ7aDNaOoKI1QZoRNdZ4lwXgHgR5RHFGWh0susoEC7uPJUUTw9xf15wOPn5XB8SN9OO/qi0EbqyZckiIidfWs1A6JDt9HLoPYRZvPOxv3p6P0qHXLgutVid7PU8G8CRsYGBgYGKwQzEPYwMDAwMBghbBsOtqKQZsOkK7u2MiY9rvJYdBQY5QMn/VAUVikB2o5oEGiQK+dKS6OsV2qqUo0nkf0mNcjcBEFoF4OP/xQah89gDqsXLtycELvy9jZz0/tWhU04syxe1ObgmNlZAjUj1+saOdqU+R0ZRTRpnGVahvnz07tTpVoVhHJVUB3HJ0GPfjQwQ+kdiYD7qqc70nyz2H+CgWujwt60suB0kuIOrKtntrGFKGbHcKYbSRxk2HS/e7O6XVz+y3MGQU/SmsVBnOujt+4FNE8v6jzc+ECxnX1RtBL/f2gMLNEm2WKRJWJSJb0YDMUkT7sou4uj1GkD4UkCus9kwE93JnHuq42sS6OHMI9EXX06OjhERozqrN9+z0Y7ykSW4gjPQrTymL8ONLainFexb4k0YUcLNIclgTtVGRLBDfF3CG0a+Hozfq5KGq+VMFcrFkFsZAtG1C3NT8IalRE5KGH70/tmaP/lNoZEniYGIFbacN6RFCLiHQb5OY5fACfzyOKuk6uoDbVgo6JfhYRiesY84Qo1GIM2nh6GmsnTvSo9cUlilSvYsxsEqQp57G/sfunXNbFYYp90DWOPNCmjTbmvlbF2E/PwK0iIuJlsP7zbcz3qjHcV30baE1XtMPFqmLvYFEN8mRJHLFN662r7+8OU9j0sxxlbBSzlKES6VHrDdK49nyMX6eLdrVIEzvn6Ou9XMS6VFRn+cgxjMtSHXN58EG41eIEAjQiIgNDVWozxi/bp6/rk8G8CRsYGBgYGKwQzEPYwMDAwMBghWAewgYGBgYGBiuEZfuEx0qV1D73KRBuL+V1ZadWDVx5TIpAkcBH5mXhe2QlqKCr13oNAvDxSYym5ikEXdrwfS7M6Tx9c4mUqUjsO6J0IU49mj1Ejg0RCQrwufQPwDdxxg6kUyRZ+GoDqnMcW7r/YqGG6zz80N04nsL5M1koGLGCjIhIbQ5pKkkXbcmRv7RQxrmyJd0nrMhf3m3Dl+jm4L/op/QyW5H6Uqz7UhKFOR9fhXlZtWlbapOollQqPY7UIn3pw6+WdEixLGKfJvw1c4vw7YuIOF3M66b1SJnp76d0IUqJGhvU11gxgza3SR2n28F8ZQR2tl/3Kef6kG4Xhzh31UXcQH+4LrUrefj7bEdP/3Dy6Ge9irHY2kL7Z+fQlnodynEiIgmlgyQO5iigMVIx1ouV6POqAorVICedTefl9AtF6SpJoP89z2JgtTms5fsWEY+x6/6fpHahJ4Zh1Xooa23ecn5ql/uxXpeW4N+98zak54mI7H4IqVCnnYdYi507n5va2RLiGZpU17xe02sbWzbmqZBHmkqUQZv3zsDf+fBxfR/ySIotx/7eCo73fIxfk3z1ieqp5U1paGGD6n9TLfDQgh+5m+iKhp0GYlsCC2t5kPaRASqaMD6kx8lEManCUTyPQ+pf3RD9bczhXImlxzBEVHfZjqmoyxyuccutqH9d2rFOO37LGTtS26O4D0X1w6sd+IQjS/dJ+0WMTbiIccn6pFxItWf6BzFGh+5BnICIiNekwiyr8BwxPmEDAwMDA4P/wDAPYQMDAwMDgxXCsunopz8NlM75FyC14PiMLpy+5yEoO1mKTh8inNwSUDphBOoi6lEa8Ynusj38vRASbcYpE/mCTo2XyqB+ihXwCrkmpWIQzZ2lMHcRvSZqEoHi6CyAbsrkQamUs6AxSuv0lIlFm9K1HrgZl7dwzXqtimv0pDlYlKLlUa1al2icISqSUSjoBRwUZToERBcNVkARZTJEXVG7nECnTeMEFFmlH+kv/aOgZqtt9LdO6ToiInmiw4dGcC7XxbkiSn9okrr8/LS+3hrHsa7274LQfnWU5p5qorbaukpVGGAsAqpz3KY++0Wsg+KgXhs5R0UP2qQu5Do4pjzEqmpQbwp7xrXZxjjVKA0sn8F6Xz8JJalpotBEROoH4X5xHVojVAglpDUWJfrt7+YqaGcZxxdKoC2rS3DRtFqYRxXq6VYSk5IYq3TR/aaoZnKrpqfSPLIH1GHSwf06MUlpJUJpPb4+L6PjUL3KkZvmhm98JrVv/zFqE5fofplcu0U718gIKWi5RBu3q6kdNOE+yOR0JbPcGFISy8PYRwtr4f6xHNCbboRiDEldd+VYeayrDK3lTBbjEoVICezobLTU6ljjdhUKUusmMUbPvohSvwZxT4uIHD4Mqv5fbkcBjzvuRO32mFKPYqqrrnrqZ1su1kVMFHyHUlirpNy31NA7E1IhmNiBuy3qYE85fhBrpzl3QDs+P442B02st/v2ws3Tob1qwwTmvlXVFdocwX7tHsJ9+JIrzpZTwbwJGxgYGBgYrBDMQ9jAwMDAwGCFsGw6OuORCoiwSlWPkLWL/1sU/eaSGlEYwmYK1qZiACIilgLdlPFAV+TzoL5yREE7nk7vbd4KiiqigpdODHWY6iLoimJep34miIbqJ0oxlwWtUh4CXeOQnJJd1sfl+CzV8SR6zh9EdHUhg774sR6FW53bldqNajW1Iw/UfreDMcr19MViJogotcTCNdtNioiNQP3kc/q5XA/US38/lKX6KhSBLaDkjnV0QfzbHrgrtRduAaU63AElWa6AUprwcb2lGb3m88HDmMu6QGVpZAzrdc0aUmvzempOB+hnqwPqq93BHLVbFGnt6xGea9bjfINDGKe4jrVrUR3V/FAltVXY435ZQF/iEHSXZ2P8rBjraP/UPdrxx4+AtveInrO4ZjQpM1mtHq7SBgXeWIKdUBS1RRS273CtWT3SOqQMBK41q0io37bRRtvTMxM4WnjVIMbiogsuTe1uAGr1tnsRaS0i8uObQTVm7qbaxmtBtY4NQb1LUTbAoYNYRyIi992DCF3Hxf0yRAVbJtfgXCP9uvsl6GJep6Z+ltqujzW6ditU1SbOpewLr6KdK6R7PLrvQGp3iJqPA8p4WIO63iIiRVKi42yKredgXldPYO/auEG/d/c8hAyOwQlQ4KNUJ/q++0FT7w/gnmy39P05oYwZFRFtTRHdiqLDVY9yn0XHZ8gV2NeHdRlm0a+p47orK5zHXHg2jukv0T5MdbXDoJraDxxEv0REdlBmyAt++ZXyZGDehA0MDAwMDFYI5iFsYGBgYGCwQlg2HT1bh6jCHXtB1wQtnSLIUpL/ACWjDw4TdWCDRoqoUEBCNLeIiE1J7jYxPF4WtFtM4X+Oq7elPAQaa9Vm8LFdEsI4ug8RglbP9UsVop4GQJ0VB3GuElUg8LpER/brxSRKjxCtEuD4Qw+h7qyTQbuKo6B3REQGhhAV278G3x1/ADRcQvR/GOnReyrGOHsuBrNLUevtKtqfdEBvVcpV7Vz5AYqcLiLa18ogMb1dx7zkXH0sRsco4pJE7G2qGV1tk7j+I6Cspw6AlhcRqS6h/fUIYzkzTQUUFkAbelm9LbGPcXFJfMAnesoJ0a7WqC7C0gypaEYBlOL4IPpVGsfnNCyyMLugnYvJXa7TPeRChCSKMUelfEU73rYx/46N9eYQVZcl14JV4SuKdFvoWxCgz22aC7EwXsQYy8CwHkWrfJx79hhcCJ2Qx4/o90Cns/N9ldTODYBerTdRczsMsb/05fQ6zxvXYSwyOSoYQgUgdh0GPXn4EEWau7pAxlA/+uZT3do6Rev+7MffR1/I3SUiMjgOt9iG9cgsGRx6eWorB/e3qEpqerbeFieDdkac8TFwIa5P9b7zG+EuEhGpPYDo5pCEQxwH68Knwjnja/R5HV/z+tS++Dn4/Df4R7SsrnnLa1P772/4F/6VLDXxHAipmEmrBddEjuj/gT7dlVSi50uhTFkuJXaf4LwZpd/7vot7rNnFurzlFuwx9S7cT6tGMS6OoxeNbtaxD00fxxivHtTrOZ8M5k3YwMDAwMBghWAewgYGBgYGBiuEZdPRp52G6C/XJaqJtDlFRPIDoEr7J89NbSV4lVc2qA+XKGTX6aHnYqLHKGm7FoKSsVzQY4WiLlAx2A+6ISKxjPYCErNVk5LEu/r1bRqdTht9zhCNYpVJhzkDSixb0qmTZ1zygtQesCH2ceO3DqT2sXkc48d65GtCCfD5DK45chEi8eoNUOtLx/TovYTEE/wc6ZySCIiKMS6tJsZicUmnLSsNinAtb8R5KQK7TDWLWYdaRKQbICJcJegLCws06qCROlSHdGEGYhEiIqQFIEqBdm0nWFeHpyCE0O7ofSlVQKGPjYCuypH7oW8Yf6tWBvSodZuoy5giyh1aC5FQBDrpiweR3hYhbV2L/j6en8cxe/dASGCmRys96pLmsOA7NyH9Xoe12vVatQ5d06eoeTdPEblhNbUV0ZaBpUe+KqKdlUVrgahSy8b9Goe6rq9L2RAbRlBDd9MqULAPHMSeMLUIgQsRkVYde8TW03HM5PpKau85SG6VpJralZKu91vK4DqLpFddr1MNXoqUHuhHpLSISEwa4XseANV53z1wJWVI9GbNaoh7bD79Iu1cm7fvTO0z+kkEZO1pqR3M707tbF6n6UsDaEu2iPvQHUEU8K7dt6b2T38ErW8RkcUG1mK2RAJE5OJ6zkW/nNpPu+iK1L71VkSsi4gs1LBfdUjD37axkSjS7bYt/X4ZGqyktkfiNkGTMhti7CO1JT2zoUt1DthdNzSM82Yi7IPlAbSr1dKzXx6hGu/TN0DH/HfPeKOcCuZN2MDAwMDAYIVgHsIGBgYGBgYrhGXT0Ze//MrU/u53v53aB4/s0X63UEeidvnBO1M7ueDFqW3ZoJqyPunqlnV6rFxAMriXI41hFuVQoBGyrq4/63igYioK1Mma9aAa8xRt2KDSh4+eD7brITo8dkBrNInGaBIF2tgHSkhE5IZv/zC1f/SPf5PadQEl126h/cU+XcdaSMvA9fGfbpWiMilys7wRtJWIiE8l+AJBAn5EtHPAUcAkUNFs6AIZirScF+ZxfJciwnMkPBJne8oHFkErtQMSj6Bw24AiqrtduDxyBT0q0ScKeniMokUpMr7ZRfuTOX2NdJv4f7PBmtqg6vI5KvFos+qJSNgGDVadJW68Bnq1L4M2RiTCsjR7TDvX4UfQz5nZamofo2jL6UNYe3aij0WlgLEcHt+Q2u0Wzuvl8Jvx7aAKRUQUlftsNW9L7akjoA1rC1h7HvkflNKpPpt8ObkyKMFwEcfEMc7luPpW5GfxnWWj/ZaFSPEgAAXY6eh0tkNR8MfquMcOfxd70vQ0shEsKv1Y6a9o59q2HvT0QPmpqd0lN8mxKczlgWPQbhYRmZ7H7/pL61L79Kc8O7XdAewjh/YdTO1/+sZ12rnsG/C7AQ/nHRrdkdo+ZXlsv1DXFx/uh4uwrx/ur0IOa9QqY42MrdLXmFfHnmzTPer5oLNnQox3Loexu+zyl2rnmrzrx6l98Cj23ippsFuCZ8LuKd31+ZfX35jaWcpsKJKYUz0Lynn+gP6scvIYvzKVEV3oYq+v10hYqYM1Uijp1LjroZ/zNf2+PhXMm7CBgYGBgcEKwTyEDQwMDAwMVgjmIWxgYGBgYLBCWLZP+H0f/uvUbs7eiy98/Tmez4DDz1L6hsPpF1344RwSMY9JkFtEpBGRj7hOSj0WPlcB+Pt2j7+wUCY1rgTHOCRUX+4nxaSMrqgiTU4/gr+3S4L4jRD+kyWBv0paul9o41NfiNMeheLY3oMYo0VSPCr26b7LuTp8zK15pGNYeSoMQTVkZw/DVywi0pmi9BNyN19wya+ldpv8u7t/9k+pHUa6T3eeCg18+j3QyvmyC1/M9rOemdpnnqv7pyur4JPeehpSKwrbYH/na19K7aN7D6R2s6emaDlHfikS+g+pSEaWUmmGBvU1Ul+CX1BRylASYr0kVIzAtvXrRwr/n5sm/1sNY5kbJJ+6hTGqVvUCDgeOwOd1hPxfi0epviwp1Dn64ZLEWD+dDq6fUBof/9ntdeB7FBFxqQ5up46YAC+PMU5qtI7KiA1wfd1XvvAI+cWoTrSdIb8eKcwliX48xyckFGuRobriRSpG4Wf1fSim4i/KxlqoRxiLbhvruL+MPg7qmY5abQpFioDFMtbbugzW1djqinZ4rYZrHjyEa/74e/+Q2pGLdbRxIwo4POPZuh+1lMW5j+76Smp3bazjOqlE/e0XP64dz3Vz161dl9rVYy9L7dF+rP29u6n2uojYPqXoKaQLuhmcdzUVTKn0wY+6aqOuAhiGVCd6HDWcGxSn0iYlrW5NX69TixjXKMB+GUc4b432gfqcHvNjZ3FfV8oYv+ExtH/1OhTAOGsr7Lk5vd77sVmkXy129FTXU8G8CRsYGBgYGKwQzEPYwMDAwMBghbBsOnr/g1DqOe0pEOXuNHRB/eYCKLlcCWkepQJCwMtDsDMZcD+Or4fT2wnognoXlNbuvVCDimPQHZs26WLlRVKE8YnG8ikdoU5KPbV5UNsiIhaJeueLoMsCUsC57U6Eyf/on/8gtcdWQUFHRMSf+KXU3rsHhQZma5iCvnIltSuk2iIi0phF+7shKJbaLNoytBq1UjdvgVC8iMjaCVDg258G6mnNZoxZsp0o2ATUzfyMTsEuzGItNKuggeamQU/d+K0vpvYNN3xBO748iLnc+VSo6/zqq1+d2i+44lWpfeApoLPvvOYavS31ampnSI2qrx+uAdch9wUJ1YuIZAKqe+tgLmp1UNNTB9D/2EK6johIsUIpGx7o4CSmdKs2rt8JkXrTaukpFxYVFsn65NqIMd6WRzWrXb3ogUeFGoRqGLco9a4TgN7btxe1YUVEsiToXyph/ZaKSD+RCVB9q06DklV9Xi9ssXAQylJhTAVbYko/oVRD19Lr1nItlYDeFbwi+jVMxVM2jev3W64PVHE/pa7Vq+jjz+IfpHZt9qHUnpnV303aDazxJSouMFwBbVkgxai8o6ev2CW05VgJ5+rQ/rZ0HGts+mEoLt1+yz9r55rYinE6f+fa1H7hc96Q2gtHkCZaKunpMnfd8VP8bh5r4a57sUbCmTtS+6Hd+vGWh36W+0pko12dNj4fo7rmbUpJExGJqUiKRUV9PI9S36gaRCbSH1e5AVIoLGJeR8rY3xsDz0rtg/f9pXZ8K0SbCx7cF5HANXHoAPbq9hKeO2GorxGXCm1ki0/u3da8CRsYGBgYGKwQzEPYwMDAwMBghbBsOvqCSy9L7X27b0/tuR51mHz25MLviiJ3a1Wqt+mBbshm9TqcOVLTOjQFGvA7PwFdYoW4fmnwKu34wWEc3xXQPc0maJhGFTRararTrg5TJHnYOVKaWbf90tR+cG81tetLurh+ZRznvvSXQcH6Z6DNt37pTakdKX0sxsYgCh/mz0nt9l1fTe3hAYxlpaCLpVtUtzlugXafPo4xmiNqfN/tUEWzLZ3CHVhzdmpvPG9Has/eCXrz6H7MV71d1Y6fnwYl94NvfyO1R0m0//LnX5La60j9q9ATjT87g3HKzFI95hI+Hx4C7ZQoPdK7nMf5aqSmNT+L+asvgjY8MqcL4o+MY2zG16H2aneaCmC0ENne7mC9HX5EL0Zx4BAUfagr0qnjmFCRWpylK8xt2AiVLJUnVbQ25ttSFGns69kAXJjFzVIBkgBjERB932nS2Of1zIYCRcXWFtF+j+rD8juARdSsiAgFRGs1YcuVSmqvsbGmg44eeesI9pukD3T0gUegBFargoJtU2S829EjX8MINGongHB/0KS9y8e6yJX0+6UVYfyOH4ULotOmSHcf/LvtVdAWRy8E06CI+jvvoGIe9b9P7fr03antO3oxih2bn5namQJcgdWFn6X2/r0U6buoF1/xyK04T+vKPrI3tfuH0K9N51+MtoS6u+/Qfqx/rvM9NI4a5fUarr9wSD8+W0atXodchDEVenAzmK/eh13WwhoZGYHrsrwW+5sVQNXs7LOwxlpNPYS+2SLFr/mqPBmYN2EDAwMDA4MVgnkIGxgYGBgYrBCWTUf/4JtfTu1VWyCqsPn0LdrvykXQUmGAKLmf7AZtHN6JCMu+se2pbdt6MnU/iYonDiXmEyUyPAIRjCWHIkpF5GcPV1O7RcIbHlFyYQgaqRHp9FwSgEabpyjcbJWKG0T4O2Z4DNRPM6vTaxLh/0ePIRJzbAzU19Cqs1L74BE96rxeA41V6QNFs+FMUJCDwxivzee9XDu+cRRRlg/c+rnU3n0XIkQjVUltO6Bocl9fJovTiLQWogqLJGp+zsWog9po6mNxYD9otG4d0emL85ijL37l+tSen/1Yak/XcD0RkWI/qCuvsA7tzyAi1aEo/W5Hdzm0A9C2MQnXuwW0xaEoXpXRC2sstEFLBdNYP3EdNFjUwPFBRIIaDug0EZHyasxfhmpuJy1kDWTyoHMjTx/XxaOgKjsdUKjlPtDkGRJbyGT16GpFgvyS4B6NIqyxyQT1o+MEUdNhQxco2LCdKD3ilrNZimglCtfJMU0t0uzgHrnnOObijo9+JrVdgWuhr0+/dycnsS+tWwdXzsbtVMzhMNo8N4WxXOjJkmgsYCy6IQQjLJ/WogK1aZMwkYiI7eGaqgMKPwry9BtE2fs+R43rc+RYWCPzx9CuY0dQAzgKKKLZ0t1iKkHkdJEERk7bgOjydWPrUntiVJ+XhRYVrZiFbVMU83Ya7xe/+lfk8XDRcYg+Vak2tsuiOTns6fO7vqOfYBJU98Iinh2FEOfa66FfD2OIRETEyrI7ALR/l9w/CYm7WKVnpHau5/U1bmPOBgd118ypYN6EDQwMDAwMVgjmIWxgYGBgYLBCsJRS6tQ/Ezlt07bUbiZ43d5+zvna77ZvqKS2S5GoU7Ogo5WN49ee/dzULvi6EMLaPlB6m9YT7a0QbVrrgPqQHv3ZucVqat9zByjUmGrQjo8i4m1wSKde2l1QR81FoniKaJcdUW3kPOjoXBm/ERHpFPFd/c5PpnZhHbSbuU5yJqsntu/6AXRis6NPS+3yOBL2wxht9LM0LiLi0XeWAvViCygZywO9FneZ2tTptVoV9W0T0mZtHkSt1npA4iaBHmEZKfRtbgY0e1gFPZgvYS76yhjjyALNLCKSIc3i4jDWaGWogs/zOKbR0EUlGk1Qeo0a1dMlIQ2SChfl6fRgnaLr3QzT9hCraLVB+3kO6HAvv1YYi8cO4JgAbcnliM7NVVJ7bFD/G3pyCG6iYgm0c5cisq0Ydix6dPXBY+jboeN3p7ZPeskDpCMdWZij41Oo7Ssi0iRRjjVjq1N74yrQi74HN8HDx/Wa1bOLWEuV8Rek9tE930ztRar12lfRNcFH+uGyoqUou+/D2q0vYY5YK9zq0cEWuseTkCKniSq2fIqIDvU1YlH9cVEYyyQg9wUf4+A3ttej3UwiMKqLNsfkYiPGWiylj0tM7hA7R/rgFHUfER2cLZNWtIhMTII2X7Mabo7RftC+5/8SaOKdZyCzYcsmrAMRkYGhXpHutNUn/TQ5otPR1iQyU6yTHyJf+CHG6PpPvkL77tBBaLJnPOzXFomr5Ejc5wXP//XUHuzT9fBnjoPmT6j+9Vv/l37Nk8G8CRsYGBgYGKwQzEPYwMDAwMBghWAewgYGBgYGBiuEZacoReQXarbhv4lbelpRzgfv32jC/9SkNIVOC/6HuVuhsrR5RPdRbbnw3NRenCNfzsK+1G6R6ozYemj43BxSO9gvViTVpYEi/B9DFd09PlRB+kplGGkaURf+gz374J++9Za7UzsMdd/jyGaMy9os/DKTo/D5VEhofmhS95+Up+HHLU/g+uNr4HefX4BfJujo9Yj9HPxcnErVV8Y1vSzSbzwLvqTqgu6rv+un6Nveh+ELWZqDX7Axj7EMlO7fLpTJf1VDOsji4QP4fAT+oopVSe1Y6UV0ffK9bxiFL2fbVqR7lfpwvWqtqh0/NYV0hof3YC5CUurh9d6I9PSVSgXzNHkm/D9Tuz+V2q0mfI9rtqCQx8Do07Vz3dvEMc1DWO95KqaQJT/esK/7x7eMYY2yehf7y4I62lKt6+lejoP7JVQQq3dD3K/b1iAlrNSHdKUDj+D3IiIHZvD/iWHcR5vXw2+dpft1cALnFRHp+PC5BR7q67bmf5LacQTfm4r09V5rUCoQFV7uhrQuyacqVGRCetaYbWEtWFScwaLfqQhrLNZDIMTi9KWEfay4pk01r+0IcQNRV9/TYppM5XE7sT9YpLZni64Q5/hUY53OHSa0SEhxqrGkx4M81EJsyYN7EOfjk/LhLbdDley0dYjlGRnW/cvFAQzU2AjiOc7ajrq9A4PYn2r7dJ9wx7s7tTN9uA9HJ3C/1JpYO2HPPhTy8k+o+EqdYmvKWIcHp/H5XXcjtVNE5NhepF36BZzL+IQNDAwMDAz+A8M8hA0MDAwMDFYIy6ajQ1I9WkfU0YXnPkX73Vmng26q1SHQvbYFWmLv/rtT+8g8KEDH6w3tJ4onBnUyS7VLjxxGmHk70bvTbkDRxfNBlwxOgOLop9SGuKur/kyR2PrcFKXcCCidA/tBg7WXQOcNrdPVkEaGoC60hpTBJjYTPZcFBduTGSAeKYbZVLs0k0XKQGUA47I0q9NInk2pDaSM1KE0LBZM8jzQrhNrdGrcpesPjWCO3CooyG6XaM+GTuGGMcZyroV2LrRB45RCogCJKspkdUF7l9M/IkqXalIBhTkcf2wa7RIRWVjA/B2fxfzNV6up3aY2trpYUyIinSrWSCP5Lq45BaouiUEJHngEqXLzx/RarS1S3XEypGzVR2k9lC/lZvVF0u2iLwFRjdky7tdAwMFVG3r6y9w8KPBaHak4owXcIyNjWCTlEaT3JZGu3pUQVWuR6lCnifHL9VOq4gSKkoiIeFt3pPbUPhS22LYdLqqEiqIcr2EfEBHZewjj34px78eU/uNliI+0KV1I6X2RDik40b1vUV1yppytRHdFKUWpTBb673pwJyTk5ugIaNOkp0iHlZDKGKXyOFSoQBHPqrp6MQlxMOeeg/G3qDZ1FFJfejJYOUXKtrHfJjHmot3B/TY7B1fWI0f09Sa0FseGsHfcdSeKSeTomTCS0d0Ep58HqrhIY3zvA1gv377lI6l9dC8UukRElGBPzZCLzCE5rBLV5R6ltDfV0gvsqDHcO5LT23kqmDdhAwMDAwODFYJ5CBsYGBgYGKwQlk1HBxYpqpA4/Py8TuEeO34gtX2iDseHcKmN66GoUusMkK1TSnOLeOVPOrjO0Sl8vlCjaEFX705C9GSxBHWijI/o4JAo0JrOMMjRw6BI5uZAYyqKliwUQCmtW40o0K1POU87V6YP1GH/EiLp+vvxecRqPIlOA8URKK4uqTnZ3qbUzpPQj+vqf19lbVynNIr+OzGigx2io+MQlErW0ynYibWg1vuGzkztuYd+mtr7qc7v0UW9aEJExXKzpPQzRkpkpQJoN5fq3oY9Lgemzg4cxBqZngG1LOTWWGroVFGnhWMaRKNFFC1r2VhHPUtMHKqD6zcO4HfUrqUlrNHpCPTcbKKv90yBikNkQRUepZrdWY/qF1NhChGRNrGrFHQubpbqq/pwXyRKp007FAUdBpizgNwPLH6WISWv4TGsfRGRoItzz81UU3v+OFwxSQvzunsflLBEROa/+4XUPv38V6X2aZsuTO3qPkThZnoU4jotUPMHq+iXV0S7IqoHrBRFKjs9dGIGtLOigiWK6hkrWju9bzYxUbhRTDcZFX9J6P60KVLZcfTCFFwCOiSXTdDAWnIy5Hrye6j1Lil2xbivs0X036dazJ2eSG/eU2MPv1PU5qECxuXCnTtSOyO6i2x6EffogcNwzdxzD9yYHLQ9XtEVDY+REl1CczY3jeMbEY7Je/rxmSzoZYu+m6WMiaXqj1N7qIKbanytvr/PHsC4dtu9tPsTw7wJGxgYGBgYrBDMQ9jAwMDAwGCFsGw6eutpSMy3SSHc8vTovdWrQBGMrUJEtE00WkiUSJHqu472JJbXl3Cd4zOgjtqKIvSIGh4cBjUrItJYBCW1OH8gtfdFaPPCAOjIsCc62qXovbWTSAAfmwRtePp5z0ntkTHQg528Xnf26MN7U9snGidoQuCi2QL30g116qbbhQsg74LmHygRvSiggGtLOg0V0Dg3q6AEXQdjbndBo6gu5jFo6X+rOVSj1KHE9MoA5rhUoFqpoiMkqrtORRtUCzR1HKOPASnwR05P1HeCs3faVZy3Tdw8CcVEPZGvlpBrgeqLZoieqtaw9loNvdBAx0N7fKLKd5yO6Hh33RWpffNX35natbbeFr8NStJyaI1Q5GlC66pQ1Om10TG4CUbHh+kbjHeDKEA71q/v0b2UocjZmGjq+aOgcyslnKuQ1yO1R4bRlog0EppN3JOOhy+2TUCsQUQkSOAKygmuo2KMf9IPQZJaV480L2Rwv/oK0bJC7gOxSUSDhDMSSy/goCx2p2C9WTSuyuLoYtFhUUGGBGs8cdAWy8HYczyz6qlxrizcF44NetTKw31DNSLEivQtPiZ/imVTbWqK+mfXl7J0t5jlURQ5jVOW2j85AtfE0BD2p4DcaCIiAxRd7nu4X9aOYwAblJlQq+r33sEDD6f2UgdjWcpgLMY2IPskLupuhlaIeykkan5iEveOn8E6dkhcpjqrZ1mISzR/p8eveQqYN2EDAwMDA4MVgnkIGxgYGBgYrBCWTUcrSmYPY1AEmZ5c8HwBlGzGBZVhU5Sb7eA/sUs0daj/TWArokc7sMeGqR7uWmgEx139+FKeoqOL61KbxQNGRkBdDI8yhSdSyYGuKFbwu8oQrj84gejugkdarDmdjp7KkR7rNNplNWGz1nZvJGGDKI4yiVfkh3EdV0h4pKdKdG0OIhENcgf4WcyFn6FIX6LaXE/XXA2Ixokj0GvdFmikgRLGaHRAr2k6QzR/q06Ro0QVt0ggwanj+tmCvuCSDK3LgHRxXbTLc9AWN9a1eF3SRBeix7oUBWtxFLHbo+VL9CaXXZ6tUuToNOj/dpvG1dFvP7oVJKExymXRrjJR0Gs3gHIVEdl8BiLVbQvXWZqGy8OjefVcnUIu5inqvQwK2GJKsFElm2ojZ3TaNCZ3imXB5ZEn4Y/BQVCV42O6uI3H8+wiinVxkWlfUNulgn6/+T5tOBTF7fjYRyyL3FqkVGNZvXwy5klpkdNYlzFF4UrPvIpNUdi0xiQgyt/GenUdUKMq1KnNqEW6/eSysLq4pp9n+lzXB7dItIdrFTsCajsJKGq7J0sjoeMdotMdm/Zkvt+ojYmt72mORRryJEKjHIxrsYT29xM1LCKSH8B+HdF6W1jA+O0+gIyNmWO6vnlpYF1qb14L3fW+MYjQNOo4JiLKfWGRxDlEZI50pV0xdLSBgYGBgcF/CpiHsIGBgYGBwQrBPIQNDAwMDAxWCMv2CV/1Ky9L7dt+dndqD5OotYjI0Bj8TDkfHLqiVJKQ/H31RYR6N0k0XkSkVgW3P30c4e37Dj+U2pEFH8n6zRD0FhEZGoAPwQ5xHYdSXpIQ/p+wo6cmuH3wX2XzA/QNfCku+YE9Evuuhrpqikfh/CMVKEOVR+DXGyE/ZNxTzCJHzvdshhR1aFwTC77HQkX3w+b74X+bmcfvOnX41TJlUs2x4WPrdHXZnHYNxzcoLWjfQSjVHJvF3EWx/rdeNoMxy2Xhe+x04TvMkTRQXwmfJ77u+2OflSM4b5F8lFlKn4nDXr8U/k+lZiUmVxpfMqjr/sJFGku/gzH3LBRdKFAfbUWi95Hur1OUMuJlaS2G8PH55GMbGsc1REQqRfjimjXMhaI0LE4rSWxdycy24ItzLbQldNhvj/a7FOjherqvPiZ/K1/H0VJeMJZBoKdLaUUMQlJAauK+6lKcRLetz0uXUlaCOua4U6diDlRPOCGFM8no+4BDvkyb7ouYl1KCNeq4+r2fUKwLX8fxOD0QbVEZKuzQ42u3Q/huPdq9E/fkqVdCqUsiIlYbazEJcP2IikFYNJeu0sdipB/HrF2L+J9SFu08awfUyxwq7BE09X2E95Vui+r5UkFmbX/tiU3Jcxqki34O9OGYke2IGaoe/qF+fcGe3qU4mYf23Im2RGjL+WtQ/3tyAn5jEZHjBaRlPfTILfJkYN6EDQwMDAwMVgjmIWxgYGBgYLBCWDYdXehDTVnlQ4GG62uKiFgkRK6EFWmo0ALRO4epxuRdu36knas6DyogDEAXBDGlBhDt9dB9qEMpIuKTUs3o2qem9sAQ0iEOziEEvd7R++ITJZrvA0VTJMWqZgOh6kEdtJs7qKdcKA90eEDC6262ktpLi9XUbjd1dZmghbHstnCdxWkUBLCJNrQtPUw+RxRbliiu+VmoXy2SypbL6ReJTklNT2HMam30a2YK7gSb5r5fz4TRkBCLmFDqmJB6k0/qTbm8TrPnqE60Q3Ssk6UUI1Iz6io9xchxeI3SegspdYvSVxxH/7vVckFPsrj//kOYF/c4KMSsT7RtrK+3hKSOYioowO2nLCxp1fQ0iZhS/xyfVO1sjJlKQO1mfJ2q9Hy4SeL4MB2D31jUx4SUlaJIp7ZZTcqm9nfIFdSmddzrJgg6OHdIx3Tq2C/aLVwjFp2q9F3Qpj6lV0qA63C/aBmIbevUuqK9K+aUnQT3mEqoL3Zv3ialazVI/S3i31GdY0oXcqSnTnOCfirKQ+Ta6yogmr2r7wOKXEMWpTSKIlW2gAp+ZHWaf7IC2vWp525P7VIZFPqGjfg8WoAiXtLV3Y2tAHuHptKlpVVhHauo552R9lGhdFiXXHe+j/ZncvrxpRLclRMDVKSD1Nb2HUB6nyzgfptd1Guk12eQojQ+sEaeDMybsIGBgYGBwQrBPIQNDAwMDAxWCMumow/s253a08dAYWbsddrv2m3QHzYp1bSboHT270Xty10P7krt+x7Q66sukiJP1q+k9iDVvnQpErHd1mnTpTYog+mZG1O7fwhRpavWPCW1vbxOIy3VQXeMkCJNqwObghrFo/qiVkaPkHSISuEI2YUpUDJzszim0zmoHd+s4Tsq9SodijgMQqozbOtRlZk81GUGxkC3NChydN+9t6b24hQVVugprNEihfpyDt+tGwcl5RJtfJzqyYqINBOsH8vH8YoCwlk9Kk80UmVQ57YnST1tcANcDpk8icA3EBF6dL9epKPRpBq6AkqsVCQlLoeE8md0ei6hArsO0WAZn/++xbroCs2Lo9Nzrk1UI1Ogil0J+HxivV70oEhjvkRKbFZExQ0UhXrHerRqnurmjgzC/SQBIt0nx9CvkVVQGbLinqhzTZwfVGHUIvUwKoxR79NpV9um+uVEwbbjKprVxfGe0pWdCkWscc9BNoVPBTeihLM3SIkrwjVERFRI65/UtGyi+W0qhCJUDEFEJFH4nZWF7XZBhyYO0Z5M//e4+zwqoJBQzeuEaGZFNboTR9/TbBdtc9jlQfd4QgVyfFe/fpmiowsF3IvFLOwCPVUaDrmLPP1c2QL6UiJXlKLHEnkyxEt6XGw5uE+cHI7P+bDDLNyCtqsXPBFNMQ2R0laO5tVCW6ansT/EXd39sXXy/NSmRJRlwbwJGxgYGBgYrBDMQ9jAwMDAwGCFsGw6uhGBEmtGVHRgSadd56ZB3XVIJKHVwu9mZiAQMTeH1/pA1y6QPFGVhSLsboLj+byeq0d7ildJzXIWNNzoAPiCxsI9qX30oB7heXwSgviH50BFrJ4EjbJ67brUHiI6MFPW6TFF1F+HVCGiOVxzgSKdW1RDVURkrgHqKNoPejFTBG1N7IyM9OvUPHVfsgX87TUwUoE9BnpzdupetLeF8RYRGRlC9N/2s9HnCgn9dyyicxN9XI9RWVCHaFcWe3cowpTpqbgnojiTQV9GV2NeBwaw9tp1CMqw8IOIHpHuOFQ0gdbbsTpECQ4cJ9pQRJbI5ZJ1MMiJQifDiAT8WSBD6XRwQnWPQ1ILcWzMveOgj3FbdxOEHTqeotOtLO6LTB7XzMY6tV7s0v3aQD871K4uift3A8yLHevUehRT0QsLe0JIVGm7g3XFdLCISLEP60cpqtPdof3Fg53z9PW+1gUdvdBGLfT9h1HXO0rgvuG6u1bS826SENVuMW1LgiLsI+o53iJqXUgcKLEom8DlSGXQrkncE2lNxSESyiAQyuRwKILdC/T7RcUkOkQR5FxUx6NCKkMF3a01MoboaIcoeN9B+wtZuL5aJCAUKb0tDnHNGRIuCWjtBxSpnSh9vcYkmsT7CAunWIr2LovWpIgoag8L9VjUf56jRog9Oe9iTYmIDK7Fs2K6+og8GZg3YQMDAwMDgxWCeQgbGBgYGBisEJZNR1/2wmeldqdbTe17fqLrce66H7TE6hFET9aIa961B1RnvQG6YnyA+FQRiSMWL0AkYYeSvtsR8ayWTmn15Uh/uJ9oGKpjWRpCYrnTp9OD99yLiOrv/hMStc/agUi4Zzz/v6X2+gFcvxzpFK5Fka8l+tMnIG3Seh3TEUoP9UJh2CHpv8YRzpvLrErtDNVtFRGJYtBlDYpWrs+Dkitnca6d556d2oWyrg/e1wfuZnA1ztW8/0Bq+1S3d7ynTvN8DfN6fAp9WeCaqEy70RhVe5LkZ3NUb3QOFHCxQDWX86CnxicRTS0iMjqMNZKhCE8/T8n/0/hNIa//3eraiDbN5+ncCewOUZ1MySWJvt5VgrXMK9li4RKi7bxiRTue6bqEBBsi0i5WMSJES1k9ItkZQXR7JgcKtkX64lGEMW61EWnuxvq5mk30s0PXD7qgEKMQ49Ko9dwvFMW7sASXS3URGRRugr5Ytr6V5WldjI+Azi5m7k7tLkUas/CFivV5YU1tmyhcjkhOqNas1eNW06NyOfSZ6hTT3mUL1ebN9kSdE9VtEYWtfMyd6uCe8nqEcmKi/R0aM8fF+IekKV3ur2jH+yT602pgzjMu9peQskSiGG3sBrrLoBnid1M1Wi/1Kq5P+v25HpqfdcwzpOnNdYpdp0Sf67rzmsBKG7blsCuEaX7qYweuQxGR6aPI8lmo75MnA/MmbGBgYGBgsEIwD2EDAwMDA4MVwrLp6DNOQ0mowxeDhvrSX39Z+92ue7+U2tvPRGnByhAoHouo1jPOwG8yOgsk+3fdl9qLS5SonQetUSiBXjmTNEtFRFZNIoq30amm9mwdf3scOQzqwC+dph1f6kcE3OJBUOAHKMD2/vf9aWqP9IN2fd5rrtTbsm1talcfBr02ejr1y8U1avO6qMQ89T/JEo1CUdeRA2p/cQ70lIiIIv3jehv0WrdGusYFzEvfKhrjoh5VaAtonTZRSscoMj5mqiujR4qv30j0ZIhxeahLdA9pNBfzVKKQqEURkdFVoMrLZSTm+xnQUFkb5+qv6Evez+L/pRL6lSmRXnGGxEkq+rg6LoRHOiHmyCMt47ExrMtCAX1UPdGiloW+ZEgwwKOSoP1FjKXd1TMTYipzl5AQhU/62n4/lYwLdXowboICLhMNNzSAcVUR5qLZwbkWZynkXUSSgMcCc1GukKhDDnM52CPCUiQPCOtAZ2xE51rUxkh02jYhQZl8oXLStkhC6zXEvedn9Y1o+0a4eZ5+wTNSu0v72NF9D6S20+MKOrYIl48i7ejnPucFqb1xC/aOLpVbbGT09ZrMQjSp38UYH51BNPj0IYju9I1h3xYRqc6DDu+0sX7qLWRcHDp8R2qPrYMbUESklEM7bZtdHqT13cI6Sshd5pAGvIhIPot+lkvk/qEsA8fGMYmtvzMGJBBjBVybADR5WzCv3XbPGiE6uy2kw01lNWkZyaqxM1J7fPIc7VzZDFwIM3v2ypOBeRM2MDAwMDBYIZiHsIGBgYGBwQrBPIQNDAwMDAxWCMv2CV/8nBem9hLVnT02o/ulkgQcvLPnwdR+2uDFqf2sZ6Bowo7zILofh3qawk/K8K3c+pOHU7vZJkH5Cag8nU0+aBGRkUn476Zm0K5oP4omHI+RerR46Bbt+EoOfhZrNZxUcQS/zMjmraldn4XKUHfhx9q5+jY+M7UP3IO/fe6/B37vYZdUucZ1FfBiAb6kBhXDOHAAKRvNEMf0ZXSxc5tqh9YCXMcjn2g/pRL1FeBPdz3dl9KoY/yrc7CPHMX8dbvwd7q661H8Eq45MghfSnsSvrgqpbhMkr9wfBN8giIimzfBZ1XcQKL9GbTZIddrJtIVgCwW9FfV1M7S756yCWss98bf1I7/x3/6SWofn0J8wbkbkSbx4lf+TmpXyuhvFOsDk9DfxG4O662/wspYmPvFpWlhHKZ1LQnuy6zHgv44b2DrNavdiOpJ21TzmgoVcFqNtMg/rfS8nEyO6rNyDWJK/ykVoOTluxXt+KxL/j4f5wo8jFGGFPn8EqUgikiicLxL1zzvwqen9i03I72yQ2t67bged3Du6fAFToxvSu06+eA789hHBkfhQxYR2bkD6Z2HjmGNTM1hv8gOsX+TVMVa+hYdBrjH/CYclqOVSmpHNcyx5+kxDHUHc861kWPKiVOUChS0dT9unWoAt5tYy602/LgzpALYalRxLPmKRUQ6msoY1jgrabVa2MecUI9N8Umhz6O6wxapwsXkHw56FLcsWu9JG8+HWGFdKkpPUzm06+DMAe1cDsfZhHoa5Klg3oQNDAwMDAxWCOYhbGBgYGBgsEJYNh19x0ModCBEZ0a2rlKlQlAOh2eo0MC9t6X2hjWgTbeeAeql0KeLlfeV8FpfptoMNSrlODUHSuWeXXu04ycWKqntUq1Un8L+B8ugBF1XT5NokzJYM8Ex9TauuaqAuqtDOVyv09UpiZlHQM3v2YX6pg0H15hbfV5qH2/r6l1TVfxu/VpQL/0+qKfWLFKU7D6dhipSQYOhEQzm8CB+N0yf5yhfjNMERERyOVBaHQXaMyalnZhi+5OemqgB9U2RCPzqSVCKI1TfdOsk1ktlrU5Hj46CKi2NYyyyVFhBOqC0Cr5OaQmJ8Edca5cUm2yqh7u+J2XjZS+8LLXrRL0VI6z3Aq23NtXAbVNKloiIiikVp0NUmwW7VOR7QqdNHQdUpaWlyVANWkorshNdCa1pIy3OIXpZhVUcH2FcPB+pS5lsRTtXGIGqzVA96Gwe66pItV7F1tWM6uSO8HxSPXLQ/1wGfRlboxdvqeTXp/ZTB7EWfnkT6OhvjOGYZkhpLZ2eNDZyAWRzaGdEfo4izUWlqK+R8SG4SdaMo/8VdjNQulFEdOihJd2tdPA+0NmBh3usSGlsnk+pdj3MqFdlOp/qT5NiWJhQvfaeogcW0c7tJXzXsbFejvZR0YYm1uTiot6XdkCqbE2svYCKtGgKXz33S0TuuxY9kzoddLpJe3irqdcAToiadxKq+VxA2mHYwrpwqIbw7IJesKTbwnrPD/XIlJ0C5k3YwMDAwMBghWAewgYGBgYGBiuEZdPRngXa1iuPp3aodOH2dgiKwaZIytkGXt937Qa1ff7Fl6R2pieMtlEH/bDYAhVwfJHogi5oiJklndIaPwaKaNVq1HtcNQEK+SlPfyba3tGp9eocIo9P20TC81THslKiiNwKIr0LoisIdYkKWVgERXOQ6KbW/RiXsdV6vcqkQ5RuG9RPNAsaZ5gKUIyVdEpk/TpQXIOToMsKpAxlE21KGuzi9bgcWhSd3WlBPsx3QFVOrNqC5ooeFfnwIzhmYQbjNEAFBfqHQA+tW0uqVusr2rnG+tFPtw8uBy5moCyi4GKdprdJmSsMmBIkoXyLaDRbd5nkqO5toR/rLxeAWs+VMPaNBqknhfq9E1PRh0BAb0VtihaleekqvZhFl2h+FrH3s1Q3toz2Zss6V5lkiaqu4h6LSEmr2aI61zE+93P6GomJtuRv/AxcG33DpGpV1qn1xVlE4QZ070dUp3qpinmp7dEV5uwOaroObsO973RxfSePfSxLBU6Uq0d6l2j8MsTvBlT3t1hEf+0sR7OLdMlFJw7mxSZVN5cKI+StSmpv6qE23ToU5vq6mAuf+mInyCRxevbUTJai4ymTpWhhjbpUDCLpKUbBr23ZMmbWJ5dHkdZCQ1HUc11vi0sh2bxebYtcWXS8JD1pFtS2Ths3RtAmFbtuJbVrS/r9Jh6eHb5VRbsUPq83Mcczc7AXl/SsoLFBjH9fb9WMU8C8CRsYGBgYGKwQzEPYwMDAwMBghbBsOjqgZPbuAl7LlfRQWjYlgJOIfKUIGmjHOSiUsHkTqOFuB9HUIiIxUX+ui+NXDSNatr+ImsVbtkE4Q0Rk1WQltcuDSKAvFSkSTqH9jaouXtCtQLDCc0CJlYkiyvXjmjEF38VlnTr53m0QAjk8DeqsqUAPWUTtHzt6v3b87FEcU53B71rnQkTl4UXwMz/d/X3t+IuOY5yf+YJXprZN4+okJLYeYY6biR55euQ41QCexXxnchjL0AK9N3dcjySMQlyzXAGNV6b5zhVAQ7k+CXo09IT7OkU7F4k29yi6OgmJpnV76WSiwYhSswRjrBRcDu0lfY3mqbhDjqhevw1qPEeiFMzuBZFOaYVNXDOk+rzNCG1sUdGFKNGjTS3FAhu4tS0SvndsROdmqLDBo+ejKPgE4xrQLhF1cf2EaHKO7BYRSSg6OrFwXpf2hzxFVOdsfV47VKTFs+A+URS1PjeF+7V6RHd5eOQyytcQrTs0sA6fkwBOwSb3QaRH4WZ87Be2g2PCELPJ+4itdGq+3oDLpdvBXJZHsF66bdDvigqBuLEuLuPlsPdkbNCuLCrhUW1f39LHVVEN5BYVAKkuUI1yKnYTx3ot8E6HxCtoXcYUqd1ukV2lghE90ckBiWXECbuF0OeQCsS4kZ4xEtOasxO4QX0HazxO0EZL9HmxbBpbqjGjaL22aVM/NIMMl86Svkaki/mbmzd0tIGBgYGBwX8KmIewgYGBgYHBCmHZdLRQxF4cEsVh65SYEAvL+sG1BUrarhPVFoASGR7SI1fPPGNzas/M4zp33AtaIHFwLtvXadM9D0ObNXjoUGpv2QQt2K2nIXJyfJ2u12zHoIo7FDnbbldTWxHdUxkC5ZsZ0dvS/yDqjWYsElJwQbHkStAoDpROjU8fAl30yAEk7B+Z+xSuMVZJ7clVO7TjH5gH7XvoS/+Q2usnQLWeuQPUfl8ecxHHeuTpsaOIbj58EFGoc/vRxu4+jFcn0PtSIiGRvgLXx8VYtGmN1EkUIJ/ThT9UhAXXarDABdGeLqhhpkNFRByifROKvlREZ9se6HQ3pwuXOCSekVB9WSFK0vGoPiqdq1Cu6OfycI90iNLjWrcZh+lA/fZt1THmoY/vfNIIzmQwlq7Xoy/ugfb1qG6sn0cfVYJa2NY86Lygo1PrKsE8sUZ2q4Y5ai5gXXh9ulvLp9qzXgH0niqgjVRKW4YzOh0+Po72FwfRzwWKqA6Damrn+yECEy3ptGdQA+1boohgvn5tCdrRFtHnIiL9w4j8tnyMhU/62NkSfjM/i/uo3I9oaBGRMtXWto6i/dUAn8c+xsLK6nS276AvZXLzdCo4/qhHojuxHlFsc+S0izUaEG3bIUGaiCjnKOkZVxIIicgVp0i33Ob7VfXUvw5xTYtEfwKipmMSdLF7IsXZa2DTVy65ojKUJuJY2EdqXd3FFsxjXCXX80w8BcybsIGBgYGBwQrBPIQNDAwMDAxWCOYhbGBgYGBgsEJYtk84aiDlgJ/cfqag/c7O45Rco9MjEfy+PNIBCuRvyuT0EPbVG+DXOacF//DsAnwuR46Af3/4YSjFiIiso3rC2884PbVPOw1pRSNjUDpRse5vdEk4PyEf48Ic1SBeRPpBPYBjoZPXfWTVKvzTFvmxLYuUXiLyvdp6yoVLdVRVF8d359GuKUo5OHRQV1Oan4Yf+cztUPZqkSLNjbf/KLUP7rozteNY9+W0m7hmqw4/ZthG2D77AW27x69EYu9TU9XULjo477PPh9++4J+T2muKui/GLZEfdhG+6lqLxp+E1/vLur9uNIf5t8iPGQYYP4fGm316IiJZKnQRdeDLqzUxZpkqxsWysabtUPeVZ23EJDhZjIWy0Ockgk+33db921FA6VIF3IcZF79zPIy96+upFHmb2lnAemtXMRYh1fIWGwUYrJ4UI5v+H1Pq295jGKNjM9XUPv98xCaIiPSvqqS2amCNZRyMxfgAFaaw9RgMh6SeyuMo5mCTr1kiFFJpUgGBekffh5wI45cltTpWWCuWsA+OU+1xEZFSGX0LqIZuQgppGR/XGB3CuBbK+hxV96Odqk3+faof7nN6mqW/Z4UK7QwprSno4PqdBtZuVNLXmEVFF1x6fNg21XYmn3LkUwpkVlc0tGlPtWnv4BZHdE/GsV7XPBDanxXO5XK+EaUh8f0tIuI45BQmJbOQAptiKlji0+/XjOr1qydXPyW151u75cnAvAkbGBgYGBisEMxD2MDAwMDAYIWwbDraITWipANaQaMDRaSYo9QOqsuZJaH8HIXZJ23QKE6fTjeUSBS9vw80ykClktrHpkE7Nkh1RkQkiokiyYFGyuRwnUIJYefSI6jvEsXi5dH+/kGkE3SIqqzNUYpOXqdeikwrEa0RdTmFAJRMcVCn1/qGQZfMdlA3eakLqi5LVFOs9LSiWqOCa9b2pvaaPlDz60aeltpbJy9N7f37URtXRGT3vVDjikjlKqbaowmlDziOTmc7ROm6rOijsC5aVPf2jgeQXvbwnE6PPfUpaP/6UXy3cRyUXpnGvkOKRY+2ExTV0jzo4UQwfiUuTtCjhhQEJOhP3VQxU2JYIy713XNBZYuIxCFRaqR+ZZPKUUDpH/VEd1m0yWUUU2pHp0DULFHIuVBP6+lQB2pV3FddotZjSuOyidq2XD29UIg2zlKfRwSU+2AfaNqxiYp2eGIjpW+WUoYiUvKqDOIYL6uvi7BDKS91jMtADvd7Xz/WQsTUaM+rSUxplI6L87IrIm5VU9tK9Hu/UMA9nslRLe9+uCY27yDlvA7GtdYzR9E8XC7dBtZiSAUQEkrxiSJ9vSaUyuPSusxl0EabaF63xxWVydG5FQ8U5jsmt17YrOLzHsUsdv9Fwm452Am56+yep5XieyTEl66QyyHGWHqOPi+uQ/PCtDXfrza5DDwqTOFCTVFEZO8BuBurzSl5MjBvwgYGBgYGBisE8xA2MDAwMDBYISxfMYuiLf0BogGyOr0XEkWhXNCALYowPH4c0cVzFHlZ7NOp7TzVt826oBLyVHRgsIDIx3K/TomNjCCCbWQUalaFAomtJ7imo4shiccRySQI79igdLwc0Rhkdzo6tb04C9q9XgOlFlp0Lgt9XFzQj586DmWqIAJdlClijG0ao7Clj2XBA1U9OQKVsDPPRKT0+ATGuzqPvu8e1ympteuh4rPvEBSUHrrlC6ndIHUa1UOJOVRT1qc6qglRSkfqoPpq9yHqvdxf1c61v0bRsscw/ztPQ8GOX37mRTheD+aXMEI/3QzsThvz3QxY/UnvSxRVcK4A39kkNu9RfVFaUuJkev4GZraM6EWOek5Idcj3dArWIdWhOMC4BMJKWqBDA32JSEw1q+2E+mJTpHgWcxd1aexcrGkRkVwRtK/t4n5zLND8vltN7YVpPVI8TvD/Vp32kQAUPCv3jUzqUe95qpXskDKY64ICzmXRRo8Vxjr6vLQdUJrdJhU6oEh1jpzN9BQJSdq0zZKak0N7SpkiioX2l2PTh7Vzdbroy2gJfbRyULvrDMLd5K7Ro86bbRSzUBQRnFCtXUX9tTMV7XiOLs86tC6p3rzlgna2KQLfy+oZG6rL2Sd8TYqupv3ZEl39K0tr2aG+xELFRxTdB2FP0YUM/u9QpLhF+6hLCn2K3C8Lx3dpp8o7WH/Foq68eCqYN2EDAwMDA4MVgnkIGxgYGBgYrBCWTUcTQyJ+Ds/u4SE9itcienVRQchCKNJ47323p/Ydo+AHa5tBGYuIuDnQAkemQGO5PiiKX774/NRetx6CHCIilRJoieHNEPsoEx3tM7uos3uSEA1pEQ2TKKJRiBpOqA5o2NITwy1Fie0Onxd9iYjCbAegvUREgg4VEWBRERIVD0ksveDrXGN5gKI/s6BhXI+oYZspf9BWlZ6iBxUSL986BBpo9TMvSe3peVx/z14If4iIVKnQgE3UnU2iDqUixnVwdGNqz83DlSEiMnUYIiQbz35dat97EBHVN/3vq1P7mRe9XDv+uc9/RmpXKIp6sUURyQ2svdDnisAi3YhqBYdYVx6JJLge1zPGsWG3qp0rSbieMQkGCMYl5mn19GhPlQUdb2VI1IQKWIgCnWtFeq3YOAYF3GVhBIpaz2RwDWWh78WSvt6LRaq7a+Em61aJ6stijJpL+rwK1YmOIoxLo47xjwL8JpvXMys8EoTJUITrYK6Cz2n8IhLtj2M9ijcMyDVA068U/qNovBLRaU+b5j9LmSFF2oc6Lb4PSOjF0iPo7Q4KBUQkmmPlKGqbXC7Zgn7v5ihLxJZKateatBGGZFs9hTmofrxNAiMZ8rOUSyRk0cG4tBs6ndymfsZapW2KuqfnidVTLMhiOt1l9x3Vz7ZwTzu2fu8KrcuYHoUW7XcletY97Wlwa13sVbRTjfSD9rcdff2cCuZN2MDAwMDAYIVgHsIGBgYGBgYrhGXT0bkiXv1zJVAqO0/brP3u+RddmNpRG8/4mAQHLIXX9WoD9NiPb71fO5fVJT3RLNUUpajC+TzEKpJ9Ou3Z30fasjlwNMlQJbU9B9SJbetRjRlKendsortIFzdLFGCeDl+w9GjPhPSLLRvjp4huSkjUwkr0tuSpbQ5RIQF9PjmGtgz269qmoyWINAz3I9F8sEKUWoKxPHYQFOzMMb0vHJ1e7oN9+DgJhwSgdM46a4d2fI0it2+77YepPX8M7guPVubgAOZOUTSyiEi2AEq0vgARk3IfaKx2E3P3uc9+VDt+965bU/vMHefimn2gcMdGmN7Sw6uDNmnOdmbod7hmt0siLhQ1b/W4PxyKBA1jomAbx1K7VSMdZ9FdQTZlJtgBjneoWKqiY6JE18Fm/WUVoi+uoihcGzS3TdG52WwPTd+mDIqI5iLEuupGOL7Qr2skKwfUY8IiJiTekBBNXa3p7pskxLwUB0E7WgpuijqJeFgkGtMbAS/0XdwBBd4N0BePImf9rE4hK4qi7i7h3IsL2N8yU7Q/kOtq/7w+rgfnMS+KRDUqtF5cyljxByra8aV+rJFSgeaii4wHjyKdg0jPjGDxD5fm1SbKn6P2Mx7mi11fIiJ2p5ra7NaLyZVjOyQO0/PO6FCtX4sZdCGamdarsvTHXaww/kGM55BDdeQTEkDKUG1mP6eLqHTpmral792ngnkTNjAwMDAwWCGYh7CBgYGBgcEKYfmlDIlScVy8im/bqEckv/BFr0jthBLD25QAv1gFxXLwMOihRyiiVUSktQiKYOOmTal9+pnbUjtXegGuQVGsIiIuURSFAVAMTBYkLdBeC4uzwggDtDOgyOeIhi1TAT0UdUGdLPZEWC5UkXS/1MS5AirfZ7tEw/SUIIuISglCzEWpBApxzShcAzm3h7ohei8iveuF42hnN6qm9uFHQIE2mjolxUISsVDkJ0VXT/RhLCJX5139Aq5/2jasnymi9oMW5n5mhiLDeyilQhkRvtNgw+W+vYjAn51G5K3V1aN4b/4h6PAf3f4zfKFAPWVJO7pU1iM8WxShurSEtXDOBszL/3jLM1N7YgSJ/O2Gvt66LYxlc6ma2vU2qNagDdrO83VBF/6bWtkcUU2UOYnmhJG+RuMY9KxyOaIb/Xdo/G2i4DK2TtP7ffhuqYE2Lx7G+Hfa0NiNcjqF6+awxpUDqjOizABFLq5oSaejHYr8dWxyzYQQ9wlaFLVN91uzqYtK2JwdQK6kmMrnBQ20t9XQj886E9wwXJNKUS7VMEYNckscnaFFLSIdkgsPipijhQbEfJp0/UxdH5fuEvaBdhPXOXYMe3VEOv+FAkXWi0iWXHQ+lzLkIeK9K8aeYIdV7Vx2SPeS4j2C9htao1bPO6NNbhabqGmXhGYcEviIEz1jRNF+HfAeReI0rSXKJOniPqpM6JkFmTKtix6971PBvAkbGBgYGBisEMxD2MDAwMDAYIVgHsIGBgYGBgYrhOXXE1ak6ELC7U58TP+hCx+GcuEnYrH6bBEpRhbVeGRxdBERm3j6fIHq+VZw3mxfJbULBf1vimIefuBMmXj6LnxxHUrxUaEeQu+S8LzlwJcXKfgffBKqT0hZpxjq/raBYRQUyGYx7JFCuxxOM8jpflRWlEnIsTRQQm3jLKk5LdR0pRuH/IrHyzhmz327U7vbxTFLi0hL6lWaYbF0J0N9LqFdhRJ8Jn1D+rgeIf/Zgb0/Se0ypWit2gRB+oHR8dQ+eEyPG5hZhL83b0NEvdCHuevr/2Uc//C92vHTx9D/gXG007LgRzz/ac9N7Z2vfqt2/F1fel9qP3A/6izXqvAPzx1HPEDZhY+p1ZtWQ6kpXNQ2RyL67HuLe9LYJOG6tzmyaY25lLYX6/5xOyHFL1KTYgWpmFSO2Ffa7fG3VblgSQM+/SjBGNsOCfB7uo/NUrRHRBgzn3LXogTXL+T1+2X1WpxvcAJj2V1E3VfHRZub5GufWSSlPxHpqyB9KiOkwBRhjCxSyUoSXTGrSzWQfZ/Gr0hzQXtd0YMPua+gz1FCtdCzlIrUUtiHDhzF2O/v6H1ZOoq9z45wfKdN8S8B2t9s6vtIKBhXRelDEfmK21TDt2ORiqCtq5pFVCgipHSr8HHqcjuhvsaSFtaV41H6EKUedRwq5tCTemZRgSDahsWmcymfng/kwvZELxjikdqfeD0xNKeAeRM2MDAwMDBYIZiHsIGBgYGBwQph+fWE6U2elaXymU3az4o+0kyaXaIoQoR9d7uUbhPBdh1dwadcwrn6B5HC4OURp59h4XIPdJqIiEPUX0RC4DGpsIckvK5sPbRc2Tg+jCi1gqlmnygpKuwQUsGFR68J6tGy0WabqF7lkkpQRqcaHQ8TMMjj0gd6qFonxaueOqSZPI45OoNUrtHhampnfaL97Epq53I6DeRT3eS+IUoHiNGWwmCOfq/TcxlKX/KfvSW1u1Noi5DCWSlLxRwq27VzZftB3U3HaPPDd9+Y2l6e0qgGddpzMg9K1CqgX7vvuzm1b7rh+tSu2foaCzugVxcXsS4aEebitlugylV41sWpXaZiCCIijib8TypXVOu0TfVkVdQzruQC0Hhrom3FYkpQX6MWpZiJwnXimGoF07kSrnNMxRRERIIW7vekQ6kkLBPm4D5oBXp6oUWFJvwMXEHZEu5Rl2j2fElX3Oqn3+Xz6FdzBnarjTZniBod6lkjDhWqkAhjptP0lO7S1lPHQq+K9vtYY/39SJdyqWBJrEAZj07otGfcwbz4HVbxI3ehRapssT4veaptHZL6VRjiXEVKFxsZpPQqEcmTK81iFyUVdsj55NahFKeur+/vQtlPtqL0RKqLHRIb74Q6zVupUD1oopbZdbrk0/Wrve+c6H/eobruVGe62cF93GrDRRc7ep1m8eD6tF1DRxsYGBgYGPyngHkIGxgYGBgYrBCWX0+YmISY6uE2lR7hGdPrv+2DrnEo2rJQBiW1Zg2a0FfU1bc8+huhUqFaq4pE5BPQlm5Jr69qKdACLVLX6TYqaG+Az9ut/fr1uV4r0T1hCLqk0wY95PmgKCxXp4Esl6IKSRScBIxEUU3TsKvT0Rb90I0QsThdfQhtSTCW7a4e0ZwnSmxmDjV4j02DDl49gv6W+zHhQyMo+CAiUi5VUntgEv1M8lBAsn1yOcS66k4YYcz7ilhL8wnonqBLtaCHQaENVnRlpXqA6PxuDErpvItRN3ipVk3t226+STu+28ZaKlrrUru/iOt0G4gwffCnP9KOX3/6pal9/ov/KLUP3Pmp1P7md76X2rfvgirXaZvO0s5VqSAK/Pg0+nWYCmiEHdC2lz7zOdrxW7aiSAfHCqsE42cp9Mu29aj1OOE1y/Qu7mOuax3G5D7p6FG0cVgnm65DEbJWAprXc/S25IgSbNN6WVyYTu1MHhRoqPT3ib4CUa2CfsXUZouocc8l3tPTz+VQ5G63wzVsiY6l2sK5gq6qlif3TS4Lar1E2Ry5CrkmIoxFfwm/FxFxiQLvIxW+JhXmmByp4LwTeiGXA6QQWA+objF54liVrNPUi7dwYRGuk5wXonNp7lu0PyaOHh1tefRQoWdK1CZVNMUFHPQ9zSLtQ4ei7n27mtpZooZzPXS48lmhEOs9Jjrbo8oQPlHecdjTF6bQuz20+ylg3oQNDAwMDAxWCOYhbGBgYGBgsEJYNh1ddiqpXcrB9mP9FPUqqIj6PCiqiOpSZougYysDoDeKBT0Sz6IE8HwfBCYKA4i8dCjaUCV6VJqi7nEUdEgJ3LEC3RB1dYENizK4o6RK10FUaIFq+Nokbh+19baEDdBoFkWYujZF7wWgYXJZne7oL2HMfB8Rk/MkyB5w7cxET0z3uGwFTRlTYkNDoCr7+kCtD49g7EVEBodAAw6uAd21VDuQ2s2EKCUqWPEoqM408aYdKq7QblMBgCqJo/QwPWvGEJW4cdXO1J6rYR3O5TCvlee9TDt+ehaRqMcP3Ia2UJJ+jSLr2z303IN3Igp78buoh+0mFNHdj7E8eBiU/SOHdfeHT9dJmGpz0ekRivR1XX2NJBFRf0ThJkJUnYdxSWhNi4iElM3QaeN3IdVATjqIyO4SBR3HPfdegmMicqVEJEji0f1dKOt0dJHEVsJ5rMt2G2Ib7HIJeiLFq0RnHz+Ce6+xROMS4T52uO5tT5aEJbT+aL/J894TUMZDTz3ZkOrzdijCt0XiPjmXjk9w/aCmZyaIAu2cWCR8UkD/iwWMl+/pUeMJrcv5OtbygaMYo7iL3+SyuL9ERLJUGMaySVzIozGj6Go3j3MVmvocJQqRxz4XI6ECEAkJdDg9LroMZYxYLvY+i8Y/k8F4ZXrpaMqmyXnkMiPXyGIH++58A/crZ96IiAxT/fHE0iP9TwXzJmxgYGBgYLBCMA9hAwMDAwODFcKy6eiAIndrTVBV+w/p0dH33X5natsUo9k3Au3kfAU0UiFbSe1ulopligixQOI7HD0IGsK2iPLuqcFbXwJFUafI4bAOiiNqEKXVE1Fsd0B7B0SduJQMP6pAobsOaIhcVqdOsiVK7iZd3LiDviRE2Uf64RIRnZ4o0EiZHPpMUqoS9uikVijispwDRTM6uTq1R1ahLxmKCvRcnZ7ziaqt9FGEIVGIpGkgiz2ary0SeQhijGU7Bl1UJy3bmbkqrh3pNXhdG3Tb6AjGb/UYaNvhPOh0v6sLVOT60ebJyZek9uGj0Kh+6HZQzo6n01B+/8bUzihEsubyGL+Yxr7bIk1k0Wl+oWhRKwG91amDgl2k+3CxqlPjlT6c28uARuNgX66xnfV1veUoIuGaBPdi0OH7BTZHHYdtfVyiCO2MqRZ5ELA4DtZhEOrHC2tc0/ER+S9Cqjmd9NSqrZOOetIEPZqNKYNBsTY8CUw4PRQw1RK3iap2Mzi+RS6XZlPXe/Yp9DiirIGFKbRf0V7p0F7TFn1PDEmQJ6PgZqHAXfFJhzroiUiOSawlm0E/szZOUKc5WqDMABGRIXttaud89NN2SLvZoTrNlFUijr4nWaRBz5HqCdUTZpElZel1mkOKSM5wnWta5Akpgij98mI7WHMOuSgVRdr3ldCvDRuentqur0edWzZpZEdP7t3WvAkbGBgYGBisEMxD2MDAwMDAYIVgHsIGBgYGBgYrhGX7hPMehdNnSJzf1RWMOg3w7B6FiodUl7KxQOkATjW1bUf317ke+Wli+FuDDnwhtSrOG4quzNSuUfqOg783CtT+XIXEvud0n3B7CX0JKOXHyZP6VhXtapK/abpe1c41TzVlA/JFxTb7L9CWuKc+a0SC/iEVvbBIucWnkP24iVQYERErgu+3j4TAJiaghlUi/4dFRS4KepaD5Iq4TpZ8XEkGx0Q+1kVACmMiIjHVOvYpzcGnPuczlApC60DcnjQD8vN0uSZqE+PSaZC/LdDbMtmPznX4T9JBzNHAs1+a2q1A97FNHYT6WJcHyqFUvRr8Tf05+I3L42dq5ypTAQ9v4gWpffS+v0jtPKk3DfXp4v4qwtjE5C+zczhvl37jh/rf4BEpKEUB1VqltBrl4B6zBOkrcVzVztVoUAEHmqSQru+Sot3SvJ7i1I2gGNaqYcHaFq7vkx/TsvX7pU7pVkceOZja5QwpM8VoY9QilStH95WLhe+64XFcow47CWnviHr8hVQowKP66ULpQl2q0c5pi4ml+8oLFFuSC3CdGdoTpmvkKy7ofSmUyF+cUKxEjgpe+LCLZb0vtI1KQNUVOiF8x7NLuA+CJmI42j3xGO0u1f2leAT2+ye079qJ/rjidDeLfMK+phdHin490xrS8V0KnMgW6PlG6mH5YgVtcXUHs0PFhjOO/hw6FcybsIGBgYGBwQrBPIQNDAwMDAxWCMumoz1SSklI+H2hrqeMtAMSvC6CXqWsFFkirXeXXus9Xfdc3BYonrhLofplStchcfmZOT2c/857HkntLgmXn3v2ttQeHQYlYyudEstkKc2BKPCAij7UqaanbyNlpJjVac9imeohc3FmolG4bmzUI0hfZyF0ome5pqpDIvJej9KNmwO9mi0hNaSyCvRWMQN6rrGEuav3pG5Z5HIYSkjEnmi8IqVPtAs6hVvvkDuClqBLNFiOakuvmgC9U1iPIgUiIqODldT2Vm1O7eo0qMJuALsT6IUG/CzGZc0o0i8mh9Cumflqaj8yDfvRg85PzXgc41c/egvaRXPZUaxEpd8781SreOmOr+B3lL7TJWWnuZZOweYpLSpXxFjaROEnMdXYpuInj35HCkQ0/jHV1W426T7oIo1LcY1tEcmQGhEXiugG83QM1fXuqUfskm8gCsh9Q3SwovYrEvAXEbGpYIvQem+1QDV2I1bbw7g6Wd3lYVNqjE2FChxypYRUSzzoqeHLVL1NdWvzZbiCrBjroraE33dFr23s20dTeyiL/cqlFKsCuQHHh/U5LoRUgzeL65QGiKa2cN5GQ793Qyp0EBK9G1F6YZUUt9qUutbs6ntaHGP9WjSunAKqaLycnqcV76MZKrrgWhhLdnm4PXQ0l9z2qTMJpaQJ1fjm1LUo0uloj9KdOG1yOTBvwgYGBgYGBisE8xA2MDAwMDBYISybjk4o+kspivYs6TSQmwctcOwIRei6XFO0mpoW1ZrN5HtE4Im687OI0usrQUHIzUGJqxvqMlPDORzvkDJUlwTpD+9DPd6lRZ0eDFtEKRNddbQBlbBdu/fg9yGGc8Omddq5GqQgJA5sX0C1dbnIhNKnxrFx/YzHdA1F77k4Jq9PixQzpAJTwJiXSfEqT3PkJIhkzA3qlFiZ6LoMXbNBxTyiBL/pLWaxtIB+Hj0Keq1JUcSD47jm2BDVjC7o9FqOihg4GVynUqHxo4jc+gLGW0QkJnq23gDVmSHFs+F+XNN2dJp//yEcf7yJCNE81YfNUz3m+cO3p3aQ9LgcanCfhEQbxlTb14mhmJR39XHNZrhQA+yYixsQhZr0ZBMo4uscitDNuFTbl4oGcDR6HOiqam4G9142QxHRpDhlkcKd6+nrPaEocIvWokVjEVK/bNHdPx1yiwWLmJeE1Ku6AbmvuDZwoPOWuSyPM37X7VLxlwjn9XvUlDwfayakc8ekkNdHxVMiihqu1fXo6NjCuW17d2oPlKn2ehltPLCkU+Of/DTqXO96ABHoWjYG3a8DNHYiIsMt9MVx4YKgxAwZ5LruDu7jqqWfq9FE2xrk8opILU3FTLnr+3shi7WYzeKaGco4iUgd0O/NrKDzuaTslcSk/Ech1RFF43u2ropmdXFM0qMMdiqYN2EDAwMDA4MVgnkIGxgYGBgYrBCWTUe3KELTD0ADNFs6XZLJgS6qDOCVfWEBdFGjA+rBtqmYgaXTBVyoodtAVGWHhDDC5GHYkR4drQKiTSkZPypSVGMblMr8vF6MImjjOhkShK+30K5OA8fHimikbkU7V6dJggfUroQoVIcoucTWqcYOUZcOiSf0+aBKyyVQRb21kV2iV1tUt7g5D7GRoVWgxKws2pKJ9ejoLNFrXPO5RfVC54laPjal19dcmsU4F2lcC32UcJ/hOs8UbbmIuqciIlED13HkbnxBNJYdYyzKBZ0q4uhLjuhVJHaRxEy16iH8JRJ/sMsQ4pg7/iDa3AY1Pbx6R2qHolO4nT2Iwq11qqntl5gCpFrMlt6WmMQnggDXVLR2bIp67jZ18YQwwvFKgYbzs0TpZTGXSUICPM2e9UbssE9jpEfzE4VY0KlGO4Oo/biDdrok6iBZ7DVJovfFp/U7PL4ptYMGFcZoEwXLdQZEv/c4gt9ysF4tjpylCHjb1vdExYUuqIZwu04FN0hUo1HHeC3WdNrTadF+NYgo3ny+iusRtXrgCChnEZH9D8CdEZHQj52hwhgxjl+Y18d1bhHtqQzRfk1bRGsJ5/K6GOMk1O+9iCLaQ3I/hFSLWpFbS/UIGIWUgcGrh5auKC7cE+tjyfWkFYmi2D65X+j5VptGNsBAaZ12LsumgidBTp4MzJuwgYGBgYHBCsE8hA0MDAwMDFYIy6ajq6SjXPFICED1JHNT0n2bdHbDGNSLo0B75Yh2KlV0Sioh2pW1bMtFfB4noMqOHdZpoDrVDS4IIp8LfiW1OVrTd3R6T5FQqu+B9k0ounmB6IpEgToZDnVN7TACnd6lBPJOB+MVU+RpxtLDm/PUNodqb7ZIOEMpUIVOTyRgMSEhDJq/IuloF0gTOxKKSO7NkifN25j0YC0WOyHmKY71v/U0YQWq42mR2IfrsMuCtWT1cQkjcgc0MS8WCQ7ERLupWF+vDtH5SUhUK2ln23QuK9IjZ32id0Oqz9tfwLocIUGQuTZFhNZ1fe+xye2pXR7HeZcW96d2PgO96ExWp71sF7R1EvP8o11KUdS12yOeQPWQHammtutjMvMFuieIDo57aMugC9ozSzrgPkdKU8HwONKjzpVP9VmJbGS56wxFc7s+1RsXEYfWTJZcJiqD/teoXriToI3lrB7dTHo8EhPt3aHoZo/uV9fS75eYIrUjyjKJKLo7jiFC000wdr6nR307fZXUrnaoljrp5M9U4bLZ9zAySUREGi18F3bQFreFNhcyuGbW16n5xizo7W6TIr3JNTJXo+yPJsa406PbvtQhTXNyjSjakxMSgSnYOp3dcrH+8gVqJ7miqjYyDmrHdXejQ/WQG1QP2s3SnmpjwWVGkeXg5PRnRYcEnAJ6vi0H5k3YwMDAwMBghWAewgYGBgYGBisE8xA2MDAwMDBYISzbJyxCPhryn3i5Me1XlTIp8jTg26gLh/YTn+7Cb+v2pGz4pG4TkjJTGMB/ELTha830+E+aNtpcr8FPkKGiEawG1GnrKU4BiZc7CXwTitRdbFLSCiP4rlTCIuAibpHSPHz4j2xKfwkiHBMnPcpO5H+KSfErpr64Nvyblu7KkThBm5UNv6SXZT8s1eAlEXrVU8czTnDyxIKPaIHSnVohrYNQb0xMKU8hqZwpSiFwqL1uHr6f3ADGUUTEi8kvWliXmkFA6TZkhz11byNao5ksFfNwueY17Jyt+9rjPBXgIHWdgOIGHBrXwQL5Hh1diaxGqXsZG+1ac/rTUrtEqSxRosdA1JZwL+Sz8JE65F9nX6tWQ1dEQhJXskjxystT/W1SKeonladWS09Rqi9yWg6lllD6SZtTv3oWbJnUjDyKYcja6FdM6YXdjn68Q/Vh623Eg4xksV9NjMCem4dyW2tJ30cU+f1tTeWMFMME/tlOqPvHvRg+Zp4Lx4YfXHkY70wBv+nrg9KfiEiXVOkyU9gjCkOIFXh4Fm257cdQBBQRoZLRmgqf5VL9Z4qHcHvqxRfzVHTBpQI35IPvK1Kxn4hiEHr2gb4sztWlZ0KHY4monnDYU8t7ehYpQ5k6rpOje7dTwFx0kx7/Ou3RBapTHVFde4uun8+gvTlfj02xKL22k9Vjm04F8yZsYGBgYGCwQjAPYQMDAwMDgxXCsulol2iwhNJKGm1dlLtFOQSWh1d8VkDKkDpLJg8KkOv3iohkiAbKCKlMJaBI2kQnuxk9hN0jWqARUloV00tEzbpOTwEJYsuYhbSJGg9IdaXWRAh8kEClR0REUbHkJqlntUgEXoqkWmPr1EuXKGDXYooH1++QepTtI91ERCQmsf6IqN44JjUiC2kSuQwpLvXokTs26MmBCuYvOwF6rUGqairS5zUidZpihVI2KP2mw2lRnO7U0VOEmpQCUatBpcojaj6fZwUenTaNE06ZoZqwVL/Zc6iWcw8drYhSdT2MS55o6mwBdDrTpm3Rx2WkAHq6MgwaMk/i/DYtSnt8h3b8wV2g5wrWgdQeHZ5I7VwJ90TG068felRrmLhpHnHbIzqSCqx4jn4uj4qBJKR0RKJq0qACEEsdpGGJiKwvV1J7qIR1qchltNTmIh061WhTMYt7doOeTDoooMGpd2tXUyGYnmIUVE9BEkrPGyQls4TdUrF+wzTbOMa10efZeVx/yYIrp1nFPTEzd1A71wN796X20V0/TO2W9aPUPnRgL44/po9LRGlCbo7Uy8gVyKmGltuTNkqpWBa5+ywHa99i16M6uaqYiOgbLKnauXSPWeRus0Qf1ww9Xyx6n4xj6jOlFKpEX6OsxsUuM4/cZVwYJKK9vhXgXhMRyVq4d/3E0NEGBgYGBgb/KWAewgYGBgYGBiuE5dcTJlrCsqluaU8kWDegyNcOKIYiRU0zbacSUiyKdEWTKMbrf6RAQQcdEiGPKPLQ1btT8HG8n0dUbbkCGmNwAFRdt6foQdwlRZ8A3y0eQERwOwDd0qyB+mj3RItKgeqAEu1tUcQdC8JYVDf20baBHuxSHU6L6usmLVCzUVenoSoj46ntyDr8Lsa8LDUoOrtJf5/1qOZEHUSSMvXWmiFKLQYFu1DXFWTCCOuHgr6lQ2tHUf1jIRop6Op0MKsZVSkKN4xA4+XIFZD0RHpnfVbcovVHtKNFUfqR0te7ouhsl4jbjEURxbQuLVLpSUTvSyaDa/aXsF4Gh7F2Cx6u72T1NRJQcYqZOujVPUcRHTy4hGNWj63vuT6ibb0cxjLvUs1rB2MU09/wSU/kaZ4oeJ+GbJEKezQ7uHfcHmq+3UGfVYVdM+Q+IsWsuCdSXChTIV9BnehqkwrGEO3p+rS/JHqWhF/GXMbk1rJCdlkQHevoLhOPXCBxgr1nYY5cdBQNfvgYRTffDvpcRGTvAwdSe34OrsAoj2NUjYoRePp69XOcdUHtJDrdt8jl0VNIRnENBHYZUZ9ti9w/VE3BcXqKUQhliXicfYLfKfKF2T1rxLIoupvuJYuodUXXkB4VQtHq/nKmANa1onrvnGHiWHpmQ4YU22JHvy9PBfMmbGBgYGBgsEIwD2EDAwMDA4MVwrLp6E0l0FvZCl69y3k9knDD5m2p3V88K7UjonFcB9RDJoPXescBbSQi0iW6KmKqMuRk7gvxG9HrTc5NH07tY8dAlS7MgNJaWtqDc7X1JPsk4LBcXL+5RBHhJNCQUDGBsAsKUEREgkpqcnR4PgTt1hVcP7L1JHmuV5khwQfLI7qGaFOOThUR8RXowYxDkc+0BLoUedysY4xbDVBdIiJxQHVMqbby3BG0cbaKMa7V9HrClg/qqN0iEZgZKuxRwXhT0LckeX1cBwYpAj+7LrUXpyFc3yJx+1ZbpwqjLOYsm8O5xEK/FIkEWL5+yzg05ooKVXBtaIcKAlhWFe3tEago5uBa6CtjjnJUNCEicfqMrwu6bNwM18pEE+M3PY1j5jtYF7tndDdBwQXVPEr1EPLkGnApWrQvX0ntoKwXYEgEwiF+Ef2foYInDapfXCIRDhGRkMRi2k2q2Uz0YLHIa1cXcfEz+G5w7TpqC9q/9wf/ktr7jsN90Yz0fcSOiWqlmtMu1S+vUC3pSk85WTe/NrU7QjWfuxjv6nHM0X133Zvahw7u0s7V5SjsJvahJILwCNePSHQGWBISn7BZNIi3OqrZnIhOZ9sknOKQi5ILhoS0J8ZUl7sb6C6DgOoBhxE1lBrjkAiGCvR3xjgkd4JHdLRNQjlMh4vuMhGFgdKyX2xyg1J0dUQR1K6n7wO2hWPi2ERHGxgYGBgY/KeAeQgbGBgYGBisEJZNR+cyoHtWD4FCPucpT9d+t3EzaCmXapfaXN/Uoshhrexp798EoGQVaaZaMa6/1AKN1WnoxztjJARhg/qxKRl91eRT6PqI+hURCVugIuZriHg78IN/Tu1mF+3iwNsoQjSyiEh3CZTsUp1oXxdUqfJIqzrWI2dti5VD0M826Whz1Hoc6JRIQIIZYQh6eWEaLoBulaKr2zg+6hFCCCOMa9cFxbS4CHquSgGCYQ8l5lpMNVO90QbRoyS8EnTIlaGz9OIQDeREuGi5iLWXEbSx09Sp9foS02VoaL6EyXQtqhXa1SlckrsW3ydNdRK1sKmWtcuCA74e7ZkljexCkbSTqTZ0QgIHYyMQNxERCeleCKju7eQ47pc2uVhml/SJOTKLY+44eF9qL97yk9SueNXUXr/2nNTO53QOtkla7c060ck0Rvks2jI8qutYDw5jou0uzt0lN49Dbh3X61lkRD22azjXUh3rfXYe9ZwXFtH3RldfI0LuLzuLczWaOFdAwiGFrH7v5nN3p/ZE/8bUPv1s2nsoujufxdot9elRuC2e1zUQytm4aWdqj09gvV7wpuu14w/eDlGPXTd/OrVr/397fx5jW5ad94Frn/FOEXHjxZszX+bLzJrnLKooFSmaRZGihlZroDxAbbdg9wAIsIEWbEMwILeBNmC03Wq425YtuSWhLUEe6FbToihKpjhLnFmsyhqych7ePEfEjbjjGXf/kdJZv3WqxBcFNHAhYH9/7Yi455x99t5nn7jfWuv7lhq6e+03vt61i4UVDWo3GmZIPTLCI73/FMJAYJMli+3+HCFT3EP4pUDFBcUymA0vIpKmfC7wLCVYS/AL72dHpxA9orewpNhkPERrQFP7Hk2/qZkRbuf/aQjfhAMCAgICAraE8BIOCAgICAjYEs5MRxeN0gVt+pyeILb8YAYKmRmmYJMlAl1RIiO3FUs3xNBZTUArlNCivX9HhTOOD3sZyZHSEkdzpXuGSB9cXVA6eH1is6PXp0phs+h8DF3gCTJHq4IWhfZcHuPCTEAPndFkiKzAuDc1sAorYOHGexxmUz2X61E3oMg8xBc2sILMQHs2tdIwTWH/V2s97PA2EMhA1nTrSBXZbNMWi2EEejIbK701gGWeg+BA3aN6mF/cIjvZV0r/x9BIHu4gA1qsIEuLOUYSqbic+tI2i5fC1hQjSCDQkYOqrRAWqNdWC3ezVjp9s9H1MhpDHCfRO46hey4isoSgTEG9btDpexOlvM/vaVtE5PpFvc6DmT7jXwc1/uabX+vah19XvedzmaXnLl3RsNQ4Uwp9d6DX3L/24a79woc/a473/mHXLmvqzuu5slzP5bKeWAh1689D+AMhE0+xDuw1sVhqvILlXQUb0flKaet6rf2axKBARSTdAaXq8IyAgl4t9TmsQLvOT+19/fAPfbFr/4X/5C/rNR9oNcCv/cTf6trlez9l+3KkIbfnntOKl7t3lZoX0MH97Og4xn6Ta9tjjmKI8ZTIFPbSE1RxSnXj0ZMWe2fdovqgtiGHoTDMwX0B2d2Rho/yYS9kgWNaZMS3BdqN2Qi6Zpz2rAwhVtPWvXDGUxC+CQcEBAQEBGwJ4SUcEBAQEBCwJYSXcEBAQEBAwJZw5phwPNT4yxx+sPfvWh/QV77yS137FIo8A6gB7U61PdxTpZc8t6YHKYwOkgylOF45/8FQef3pvlXtKSrl6SOYHmzmGpcpl4gd9oTX41hjSU2r6jQJlIoS+l06xi5t/KGF4hX8K8QniGPWMLboxVHjCGpYKO0oESuWSMco7sXXPWIWcaR9y4f7+D1UomKca2LjHwMo4qSIs6zgryooGSkqK4gfI0a6QhnYagaTkEQ/Q2+AXrWUxDvwnIZvcIU1Khu9rySzcdQcJiGoRJF6qY+GT7WPVOMREfEF4loojaDndJbqszMc6xqPUZ4mYtXjYOcrJdbLaMBY+9Qcz3FuS5TOYS2uFjqveWLXWA7P8PFA19v8SFWbvvXqb+pnJlqGtzywZhCLRzpOL2Z6n3t7upY2JzA/OdYYsIjIeF/3DpY1FVA881Bg6lkji0NZmGzgvw2VphpyUjXVk3q74sjpHuXhm7xE6VTU6nM8GNiYcJZqKdlRpSd//a1X9VzwUr/xhpYIXbxkSx0vHqj61ntf/vWu/SNf+FzX/rF/+y927S+/o58REXn1VS09q+kbjNivT3Rcbj22pjp3jnRcHbc45P/EEfMudE1m6dScK4J/dQsluAT7UFPo8a5vEnKkxwzG2v9dPCOTSMu4GLcWEYnQZ4cclCZGuRS8oG/dUlW1Jw9m5lw7E51j+qWfBeGbcEBAQEBAwJYQXsIBAQEBAQFbwpnp6ArlD/fwtfxrziqqHJxXEXl3Ao9LqI3EA71sA9/VNLN0dIwUfu9QjiDvde3VQumSvjh/sVZa4ehE+1mu9Pevv65U23TXlmzsjkAPQ2z/8IGWReVQEtsbo3wis5TUCiUjELySGH7MHp/JYlsmMU5AyyQsDaAfMXxv+2LnNUojwEJWa+WU1ig9ikFh5j2lG9hEi4foP0sOHMo/ssSOhWN6P46hUk6zwnyxvq21vGOc6rlzeMJWDUs+aMzQE6RHOAAVWhLH2scUfspt/4mplIL3fbX8f3beTO9rEkP5rKes5FECUYJ3Xy1hmjDR8MGO9W+QBfysWebiEFapT3X8Dh/bkj5/iJDHro7Z537fv9G15+kzXfvVf/wLXfu9d63vbTbSeakGv79rT3Evz+6qscOVqx8xx0epGqsco/wngyqcQJGv2NiykKMaISMYiDQFxp/PDvanKLU0vYC2H8Jz+UL+oa796Oatrr2p7Z6YljrOi0M9/t2VrpcNqOEEZVjn0BYRuTnTtfQ//7f/sf7+t7/UtXOEOdYwlvigb9jH72u/bt1S9S8w5pIMe3sq5q8mPdzqnpTvYCxrfb4WM2vkIhE8hI3pgY5FhLCa7z9e8Cmnb/K1fd23954FzSx2LCsoN7Ze12vs9ZlOE53LIYxY9rwtdWxBdf/Wmz8r3w3CN+GAgICAgIAtIbyEAwICAgICtoQz09FPjpUaHo+VUjk/vmY+tzNSWuLkVDOKa4/MNGQqN6L02NxZcfwWvGc2hEA4Mm9PFkpdzE8svbZB8unRXOnc02OlRY5nSjccHFhB/MlQaZUUmdPLUq/pmdWX6f80bmCpj7JURZsSWdsxKDFX6fFRn3upYWIQKfUyAVUcgWrd9GhXiZRicXBBaODtLFDvquG60LSWkiprXQuR5xjBTxfhg9rP7K0sNUN3eQIFKagRpaCXNvCgLeDHKyLiWl0zbk8zIZsGXK1D1nBjqULxVPTRv9UCr1P8rxqJNSpIIlBnoJqbQtf7eoHMW4Q10mEvAx60Z4PQxBLHr/cw9jZpXTJk6vtaj6kq+OHivsYTGyZYb3TOD480zJCDmv7S//rPde1rCDOcwLtbROTGQ1Vmev0bSlsP4dm8+ph6gfsdDfGIiLz4rPb53DVVdjo91DmaH8H3tekpGMX68KdQnxsPdX8a5LpexGv4Io96YTEojqWojCjmMIlAlvyysGp5J+B3y0rX63qJczU3uva1oWZAv/TSv2bOde6qrotPXv9o1/7+P/YjXfuVX/4HXXvh7D6yXKkqG+9rZwyzHfw+jm2ILsn1nhuUE3isnbqF2h3MWuKBDSV5PEtNqed1cPWJoIrVOvu6cvAzpikMPYRLKJStej7RMV5JCYxoshGMdFAN8YnL+n54dmLfezcfaXb/xPf23qcgfBMOCAgICAjYEsJLOCAgICAgYEs4Mx396J5m/6UQTv9abjM89y4oxRMtNGOxAKVZlfrVPRtOu/bOjqUrEk9K9xi/Vzo7Q/F81Mso9iiadpEKITjQEvNT/UxZWT/h8+f0fNee0aL56xe0z/OV0h23b2iG4aD3703qlaIZxMwIB+0K6mWxsTTSHJneg1yv6RKdiwwUnEQ2dbaNkCFaz7p2TAMN0KOrAtm1jaVxPEILNFcoIDBRI9O5Kiw9U0HQfwNjkMbDkxPiJC3onbalZYPIutD5d2tQ25GOxclCO3brvg15lI1ecxeCMufGoMGQoep6/7f6CMIjG6WxKAjj81nXHuSg4Fb22ckzUncwOSmUGj58qMefHlnxAY/sz3SI8AWo6eH4WXze0q6PHmEtf1Pp4VtfVj/ha9e/ofcyVnqul+gtL39EfXP/wBc/r/0S3ROc0xBJ6a0oxLv39IRF/Y7ey0bDOtN82rUnvVTxc/uaFRxd0Gs+nus9RwnbDAVZCjYC1VmXOq5Rq2s3jrW/J3ObqX1aYnAQvrl8Ufv8x/74v961P/OJH+ja33xX711E5LXffEVP9ayu3Qtv6f58NNf+3npkx/Xhff25rvAsNRA+KbS/A7HPW5TDfAZlHgV8zRt4KyfCPd2ei4YpDrR5BOGUBh7zvrF7YoQyD59D6AfPaxLrGnXehjySCCI6Q31vuZzVFBA0GU279s1jey9vvq8GGMuipxzzFIRvwgEBAQEBAVtCeAkHBAQEBARsCWemoy9cUzo3g/jBjZ4H7xs//je6NkUhvCB7EQXjggzLvoVuArGOPNfPJUNk5TnVX20qpaxFRKTUa47G0649QHa1R1+inifqPWgZ33qsVHU60vPOTpV6WiFr+hQUqIjIZonMWwiHkC6JQW/lif3/KAGNSeomy7Q9yDXr2fUykiOndPrdx0qd/AKoxnJN31Re22Z6NxAj8ImOeXuiVFfbKtV2suqNBXxBb7yP4481w/blz3+ia68qZHP3eP58pNTZJnu3a98+1vm6+UDFXdLIHv/xD32sa+/v6hrfgUhBhqzluLdGmprZ0vC/xjH0ol5T77jXlwh0clPrWlisdDKOT2507eKrlvZan6LqoIH2Nv7XHkFEY2ffCjk8PFaq/v2HX+3aq6VWHcQZxELgbZxNVaRHRCQZwFs51+tsNhDewP0+c/XT5vgXd/Sa77ynVRav3odufQzhjD0rBDE60L9dOadzvHP4ut4LptIj/JJ4SzU6/FyhvSl1vNcbhLVKq3FMTfa9XRVO+czHVaDkM5/5vV17CG33Dz2nvs4iIhmyux+/8fe79j/42d/Wvjx+TT9/TsMPIiJRqmO+WJRoo2IBmd7zld2UG4dNHdr+kckI1rF3XselKXvZ0Z7jpGu0xf3TR52+2CIiLfS6y7X269Ghrpf2HaXvXWPnZe+crvey1DmKED5okenOYOezU7sPfPhjusa+8KwNZzwN4ZtwQEBAQEDAlhBewgEBAQEBAVtCeAkHBAQEBARsCWdXzLoJsWzEgiS3aeONVw69LfA3qJ3EQm4en3dWFNtVEAJH7DOKte0i9TP23qoZtSZGrOVDLVPgaawQ2zqLqF2hjXM7/b1PNf6xN4HqzMh6Gx+tNUY5W2iM73uv62f+5J/+t7v2Sx/S2JuIyNd+SeM/V178XNf+6Ec0ZhTBB/Tg2Q+b4xv0//hQY7+LE409HsLTdflYx26yrzFZEZEE/q6TAx2/u698uWs/uotYyoFVM6pQpvG16Y2u/eUva0z563c0rnNrrTHsZGjHtcL6ma31+oxjXz6vcffPPvcZc/ynnlMf3BRr11FZq4UxRk89TBJdCynUdWJ4zWbwFi4QD99UNkYWQbErg5oV7JdlNNRY1Pf94A+Z49dLfUbv39fxW5zqesvHul5GY/u8jfc1Xnn1MlSPoKqWNhq3zwe6RpOP2BIhh3IrxoHnpyir8rqOECr94OfzOmbnzqmC1IvX9fj37uh8vfvQ5h289hjP6DV9ri/u6vp55oqui4ePtfTp5NTGhLldpcjVcChPcwlKl1KrROagDBWhXC9CHLKcY42IzqPv5WNcvPyFrt3cU9OMZaRrpxHGdG2J0uIYXrkrHb+CankwSUl63rjnzumamUz0mOUKJYlQjrsMhbR8YEvqkEIjK4z54ZHG99coJ6XnsIhVqMuRpzOAeUmB3Ai/tDHhptV5agvdY9xYcxjouf3Nc7Ou/X6lz5eIyN5IF/CMUo1nQPgmHBAQEBAQsCWEl3BAQEBAQMCWcGY6OkGqeJQqLdCITdWOkZIewZOV4tstfFd9o5SAc5ZSEvp6OiqnaF8anNc1vePhyWpIRCjgREI/3h6lhtHBIeJQcuBBba+RJp/3xuVTn9USBHdXVXDma6XK3nhNy62uXP2cOX6c63UO9pRSu/KMepqu1m/rAYUt14pxb4Ox+mJWMI3Y9TimhppMZingC5eVeomHSh09Qo3ZFBT03nlbClNiMl64otTZo4tKdd7Hh2qUP7hemUJTj9BGWUyq/b8KOvPqRSu8HtcMbcDMAeUXHmUZHrSfiIhvp/hJx8WLhknorRzDP7m2q1KWkBxrQXMP4Gc8hrLP3i6vLZLFOhaHh0o1ejy7LSj3cmkVs2YzpS6PZhq+SeH/zJK4+lBDLM3aqkSlUDDyqdLWy1M973io5TPDHUsVbhCymT3UNXZ0qNeZjHW9/egXXzTH5xgzuaTlI/NDXcvr4itde2eo+9ZkZGnPOY0aUIqUwWggibFGegpz8EKReQSDG5RHrsuZXh/rKOoZWJfkxmHYsVroeK9OUcLYo7PH8HL3XkvymhoGFvC/bnsuISeF3tsxjGg8QncxlMwyqAv+kS+pYYeIyMeu69/eu6vX+al/+BNd+1UogbU9U5sUYa0xSlh393Sz/uIPfalrf/xzL5vj33tLQxDJWsfv4OUf7tq/+T//N137nW++2bUvXbLxk2KgtPej/nvoKQjfhAMCAgICAraE8BIOCAgICAjYEs5MR3uHr98eNEyPInDw23TMdnZKF9SlZv+1EBFPdyz1EbU8BjRYjaxlUJXpwB7vYZRQVaSIQG07ZOz1/CojZMK6RimOFmYMXki/673HQ5sh+b/5N9Tv86P/9/+0a/+1/+gvdu2Hr6s4fjSwWYkZFPLTlAYK0HFxmsWcgRL6oNPw/QU9Oh5DKSi+rB+HstPmSKlVEZHHj0CbtjD2gMLZM8+qglLd2CzgAso5BTI5l6CgU2Q+XtrX8R7v2kztGLTxaTPt2musi7KYde2ThdJuIiI7UMAa5vBRRcghBaVXi53XClnUNERIHDKlscaqiGGZnjEGlmKDNVY3Sq1T/WpT2ixM1+pa2JlMu/bpCXy98RzEub2XHM/P/lT/Nsj0OcpjpbM3hWbgz1ulmUWsIQPHIoexRCyk7azyXuR0LEfntC8FQyZm67HP/v5FDdN889Zvde3/7q/+1a59+ETX65Xn1Js3ze16HaUzbUNx7GSpa7+uobjk7XebFM/yKNdQENdehn2UFSY+6qWNI9xXQOXq+LFmPS83StkP51a9aQVzBQevXUyRbDAtG2/XqMvxM0xWfHUOn9Fn9P1H2q//4e/+nDnXsxc1NLDc6FjcfKBrJ4K6YRLZ7OoI/u0xKnZyVG988Yf+5a79pR/TPVhE5G/9P/961/67f/0/13P945/s2iNkgF999nrXbmprBHN8qH07QsXJWRC+CQcEBAQEBGwJ4SUcEBAQEBCwJZyZjnaZfv1uGmQ99zI825XSRfTtdSkoHoigu0SpUedtJp8TGgUwo1qvGUegg3s+oD5SuiaBqEaMYm4PwYCmR5tGFVQSwBU2Hl6xTvvfkJpsLL32m19VL8uf/9sqyvHgSI+/cl77OHTWG3kx03PfvqWF5eORZlTHqXJKRWqpG8mUIlqC0iphrtB6vUaLezlcWkrq+H0VxXjhRc2w3N3V8SoKmA4sbEbxbK0/r+cYvxprCRn0McQDGm/v62CidN145+Nd++FtzUCfTlWUYTSwWesZMqIz/E9K4RPndL03ZS/zdQ0a0fH38AbO4eXcIpTQC+UM4M2cJ7oWUsyrQADn9LGKq4iIuOgZvZdIadNr19QcIYMxxSCxa6zYQGCjVcOPqgIFirWQrqd63rgnYsLQDOjBxUzHoqohXBHbZzd2usbrlYa1fKnnymD+Mszs8ecvqCjJuVTXaAGq9v13b3Ttu7fV/GP/wFLAV65/smvnqfZldqLPTtUgDJfYfYShlSTWYxzp1LH2P49gKpPbZ6dGNYaDeUmM8w5RQTAc2PDN3N/o2uuNfm6FsKDL9Lx5L2TSIJRVwcglZmVLoftjuYaP/I4+hx9cSNd1NtJ5pXmNz3Vcm54BwxARiOEA+/hKx/8v/1//va79f/sPrMlHzYzuSCs4uHeXeD88P9D1dvXF7zPneoJKgeVje52nIXwTDggICAgI2BLCSzggICAgIGBLODsdTeYMjF4CXVQRkUamXds3KNgvqctM5QulYepmZq9ZobC8hXcl+kIp38JbusIVzB7F/xuNnhfJquJrSyHXQlEPpSIiUJgtsnAjUOPOMo1y42vf6tpf/9m/q58baFZh/JKKSrz1ls02vX1fs3qXpVJ1kx3NMByNtP+7AyvEULZKsT2e67gU8D4dDiDqgGz01ayXUQwe6NIlpYuK925oe63Xf/hwZo5/66b2//X39W9PjjWLd++CilIk8J29NLGCKpegd7wBVXjtU5q5e+2y6kO7jaXXYmR016DeBqLniuHBWvcK8Qtw0C1ZSAg25A0fM37I0sExtMvjSI+vkUW8cdqX0a79H3qyq2vUI5zh+JgjFNHXWs/xLO3G0M/FZ5pK1/vp6XVtH70nRJwrBTzZ0az7cjXTc0G3ff/A+t7mE73+eqE9mJ+CnnUqAjIccH8RSRBC2CyYHY4+mhAZsvQXlk5+91X13M5Ae+9duN61X/qoVgM8vK+aziIiG2Sk7+zo+J0/0DU+GUIcZsU90d6Xa3Reqw3XlT6v44lS0MOppaPTUz23q+EzPZh27ctT7IMQWhER8ZH2swSdW5Z6rsGOrqsUes9pa/fnVuATXkG3HWEdMPbf5jefIdOeoR0KK9WFhh+qwlYTtAgTVI0+F0mmFxpB9z2BUA/3ShGR/V1d4y5+Tb4bhG/CAQEBAQEBW0J4CQcEBAQEBGwJ4SUcEBAQEBCwJZw5Jtx6KCshVbxfMtIyjZyhFZYigbR3kaqLRD1FFArqC7j5puY19Jg4tv9TOJTleIZ/ENQuNzSm0PisiEiEUiRBWZZz2ucYpSBpilhzbmM5DWOPENQv1xoLWa00fjFIbLnWPsoRdqDiEsMHtEG809vLS4L+7OzABKDRexzvYlwQn3W9uFSKcoC21eNnp3r9e0d6v2/eemyOZ6z905/UWODpjs7lxWe0j1/4ENR4drV0RkQkSnXO57HOd1vDGKTQ+fI9ZaUYQv+xQ3wf69XTNCK2MbYYij5Cv1PEbh2U2DwE+L2zsceWvrNQI8qxrkaIx7fOltKsVxqHr1FeV8OkIhvp70c9o4Ko1nsuVlpyESFemKAv+wfanoztvBQQxB8iDhrtal9K5A000cwcv1zd7Nrj4e/RPg8xZrGNaVsghwRzwYChRxlejbyDamPjfRE8dRcrbR8eah/PX1ADiU99xvo8x3j2ovmNrn3l0ke6djbS2Oum0HLQcm5L6ubY48pay0FblErOa1WcKlAyKiJSlVBsg+oTlchWmJe07al/oYxuiP15CNOHDGNZYu2Vjd3fS5QxNphLj2tGmK8ktntijJiyCSSPkaeRo7zt1CpZJQg40wBiOEHcHN9TW+Q4HR+9Zc61XOsxzeaOfDcI34QDAgICAgK2hPASDggICAgI2BLOXqKUTLu2N4f13uOegvZQYIJKVgIfTAEF2Ja2rEa8/twaSlSvH1PlqLbUTYOU+Joen0hn96hx8qUdjsiBqoxJpVAEnb9HyUlrqcb9y0q7fuKT6qtJP+Enh+qn+61vqhKWiEiGUqIdeCAXBUoGCr1+kloKuForjbZaoRwCimdrqCENQP+vW0vPvfaNN/T4b+pYHt5RGubhDCUTPWOOT31K1YzaRufv5ulMP4T5LiGO71tLSQ1QlpbDtKJBjViSgqbdWAo2jpWGGoFmzwYoURrQP9seT0WfEqGYzQYKayUE+aF41DR2va9bvWaEeRnvgfLG83J4orSjiMjxA/WTXq5Ap2Msz11QCvvKNVsidTDVNZrGU72XQtfOcqnlZelEy5DGA6tYldop176ghDGHeUgrPaqyhoc1PG2NKhnCUq625S+CMMnqRKn1+bGO+XwOMwuMt0ttGZrDnHtQ20N6KxeqknR445fM8XtXr3ft8Y4aRTQT9baeV1CFq2AQk9j9NQc1vj/RMXqy0D7OVlreGD2yZZflit7YupZqhPVWJahlb4+nwiDL6CKE5ZIxyjlrnYdNZdW/KpQ1tVAxFDzTFUI8bc8Yo4GZiMP4Cc7bIGJB73gRkTyDwRDHAiHWBPv78bGO66Mndr0uV1rGmSR2j3gawjfhgICAgICALSG8hAMCAgICAraEs/sJw8OXlEzbFr0PguqNoNrDzGcqVrELqc3C9RQPhzexr5VS8sgilbRHFTb4W03VIPQZCjAussNBo4gaVKOLIMIO6qJFBvUL11VBRUTkx/7cX+ja7/zUf9a1f/p/+WrXfvW2qg5FGyvO/4nnIX4OSnZVKg0Cxl/yzHrF8t+tCBSLSzguOnf3j5We+flf/xlzqjff075df1GVgq7v6zV/30eUqjw4b4Xbaxh1vPu+erIukXnqEh3LR0cw4nCWgr18jvSgUl9NxAx8vfnaW2q9LnUu56C9Y2SIjsfMyAWF9cEH9TqQ9MlyHb8EHrLriiGS3rPTUI1I72sA/2UaSDx43yoAPbir2brLis+o9rFq1eQhjlShTURkcay07WCEkAvY8PWphjnqQw0/RD2JOCb3Z7nSpqu5ZuSuIO4/HNn1mu1qtq5vNExTwA86gsnHILdKahVo03vv6H012DsyGGOQQvQ9aaa60utEuLEEKl3FUo9fLuw+VCAjfpTr815tbnTtRfuHuvbzFz/RtXNnlfN8rRUUJdZCgcx4X+jzMjpn13t1gn0MtG20hJHKSj/T9uZF4IHcsmoA9xhFOscenvCu950vwfuBRgkFTEqQXC1p7201QGhnZ18zpR18tuuRhkmq3rtqudFs6aLWapBRoXvXzkif3XKje1LUq2zIeS+9apKnIXwTDggICAgI2BLCSzggICAgIGBLODMdncQwYwC17HoZxQ4Za5FXuqRlFrTJTlYaxVU2pTJqce6MvIRSLE3MzEWbHW2vr79vQR1EnqIKNnvOIzvag/px8Eo1Iwia/vY9m2H54//Ff9S1b/78f9+1T5D5OQHTuQ8DAxERB4GLYab04mVkmK5KpVt2hz2v2gP12j06UTr5fQhpfONtLUC/dUezYC8cWBGTf/Nf+YGu/b3fBx/Oe+qZvCzHaNtMwienSlcJ6OGqYNY31pjTz9AnV0QkzfX/yGyg4x8JBBJAv7e1nWNmXIJ1lBYLpuY67GU+xhApKOYUi9frDIfalyFNA1JLbaeg4NMMggkZhGJAlSYjS4kNdpmtDFEPZNDHWO+Nt9ffIAM/zpXSm06xFlsVlTg95jNhTiX5WLOwR8iWHQx0vPMTZIe7nhEMvGrrUjOP1xtdrw39j1O73iVGZQYynz2fcYS/SsRy2l4GvkeVBj3SE6yRwd5U+7KwIZMCmbM1DBiaIz3v+rd/vmu/Lv+kaz97/QvmXC998ge79qr9ua59tFD/7ASCNEkvI3gy1r+V8BwvNnrP0z1Un2R2XH2k64KhOO59VYlQCJ7vNrLf+VpkQXuMi8DIxBnRFduXFvuzw/M+Gk679iZDWBA0uYjIdE+flxoGQ6eooDg8nnXt4QiGG2M7rq7Wz0X/vNKAfw7CN+GAgICAgIAtIbyEAwICAgICtoSzi3Ugc9hB+zjKLI0Ei1BpIVjBt70TpVPbSI93sf2KL0zsAxPhwX1FoCtisXQ0s4Vj6h0gk4+iDk5sJqGn+LXRDEYBO4UskE3tGnsvFAPwoMnLSqnto5VSaG/fVXpJRCQBPf3cUume2QYesrFSRccrS4m8+556or7yqoo6MPvw0y+r7+4f/ZHv69qXLtpM77LS8V/NlLZ28GGNIXzhvdWvjWMdizzXDsC2V4a5Ul17Y9BjPdoxovhFO9VrInuROitx0vM0xQCQqSbtJi3WaE//VuCvG0G8IHHIvIU+tbTwDIZwhYjIcFeziAcjPW+aa2gjhw71MLF08gDjNDtVCvfxI22PR9r/aGTFQsYjaFHjgR2NKbSjz2420nXx8Mh6TpePNVP78rOqkdxWmpE6zvV6V5/RrO0PLjTtmqsl1nil7ROIyzTehgmyqc5ZdqC6zoXX522FrHPxeF58L9Mb3sw5qgl2kDmc7ep5F8f6fH3QNx3zIcRp6mzWte/dhd7zQveXm++pD7mIyHtf+6muff0FzW7/9Mt/pmu/9RX9zPGRDYslXsMJFcQzyo2GUiJk9se5FWERjEU20PEbxPr76XTatZuFzrdLbZVEkukzcu8Y7wReDuEi3wslVZXuIwWqHM7t61xMLuqmsqnsd84F/IGPjvV5L9cI6010jQ6hAe5qK4aUIJTUOBvOeBrCN+GAgICAgIAtIbyEAwICAgICtoSz09HIUHVO6ZLWWdrTNUpr+Bb2TtRmJe0LsYNIbLang70VRSViiHi0opRcz3VLHO8OetUOGtNR850LzkVEopZCHrx/iCc0e/i9XiONLW1JJqVsKQKi1EexnnXthxubBTx/ohnNX3vzJ7r2PdBNG0xn21qq8YtfUErwR3/wS137s5/9WNfehUVimoCGcpb2bJzSy5PL06795KHSNcuH2l8/tPQMC91TFP9PR3qdnYlSSnsjiL7s9LSjSRGB9vUetowQL1isbciBsz/IkSELRrJck9ruZdDXpJeV0iKll0Swc6txRTxHIiJRpGupwfppIaowmGhYZLBn18h52FqeP6fU3+6OChFsSOEW9nlbIeazXs269nKhx+cpaEOIaLz9roYlRET+zk/+d137zVsq6uGQNU4KM4Xut4hIUev5RgOlqimW4UtQ48hOFhG5dl73pYOX/1jXrhEK8qA6ndPnJWp7qd7YSCZjWEFOlY4/XiCD29s9MUUWcLNG1r3oGi9S7df8ka6j1luav5mDXl3+uvblQMNXz179cNeefuhlc/wbv/aPuvZioc9xgcx46tHHid1HUmT3uxLrGiGmkzVCMdhDnx3Z10000Pu/eVvDF8cPdU9kuDHpJR3HECiJ8LyfojIgn2P8epGkFuI8DmEl6svXCL80EOHIhj3bW2iXN30Bq6cgfBMOCAgICAjYEsJLOCAgICAgYEsIL+GAgICAgIAt4cwx4SiCgk+usai6tnGluoXySaPxyhhlRfSk9PD9pKejiEhTUw2LfQHnTpOFXlAYgiriPK6P+HYDcXvv7HAwrBshXuYjlEghps3YaVn14n1IW09ilu+g/CKCn6yzJReXzmss6nu+9/d27fP76gEbx7Ou/cxlW1pw/SMaE053pl2bqkMZytAGUIKKk17JxkL7kjQacxmPdPw3MPJcFr1YO+JHMeKlOWI+EM2RDUqi4sbO0QQqaYmbdu0W85Wg3Ge0saUFjvFumHm0UNBJnK7jurWBqdpj/TuNcdHfFJVLkmCJ+56ZhGcOAsrtGiihtY2q/gwGNia8EC0HqXF9h/q8qtX7P1ra65/e0XyOttI48BTlPqMR50vHYtAL2F3cVzWit97WNdI2rBtE+cnalrGNxtOufQmKbdGO9qVZ6mcGUzsWly/o+j/40O/Rzw3/up4LcWD6WhetjftnNIrItMSnQUx5dYQSH7Ex5Qblis9d1pj+57/0J7v2G+/+Qtd+5ViV51Zzu6c9vqN/G8V6j5tC5/Ktr/2qXu8x9icRuXLtS13bD17v2keP1Sii2uh6P6l6z36i93b9Gb2XC1d0vhdrnePTpa7d2dyWS+2i3DDNYcSCfSSOWAJr95FiA/9uvEYalC7Vlf5hvbbHJ4mumT/6h/+1rr3/sR/u2l//lb/dtXcQH85zGxNen+j8x72SzKchfBMOCAgICAjYEsJLOCAgICAgYEs4u5+wQKAbwu+V2K/eLdm59jurRDFTPAIl16dgTU66gy9lS2obn+8ZOJAH9MYrGKnp9BYWe332MwPDRK9UUtgxSlx6oju0ihVPlS0o/cSg0yf7lt4DCydXptqBT39m2rXzXM0Unr2mpUciIuNz17v2soJvLWisKAOFiVBA5CyNNBSlXrLxc3reWMsMwADLqrb/6y1XLFfDfTbkaqHGA9rK9ahxz7mEGhaNEuIGpTc9H9BNg3K7Rum9FuuCZRZJZKnGFLx5Weq5Slwzh+d1DAoszXvhjxE8UUHDxTCAkIhhAlsKMR7r/M/mSp0tTvCMIiwzHFMFTqSB5zbLl1qUYS2Ob2j/L4Pea3pKZKAEBwjZHK10Ld2/pV7SjZ0WScHb350oNT4+r6piCVXpemV0hxd0zV0HbZ8IQikogeReEffCYjVKod46VG/i/FhDAyPRsdwd2fV++Vnt81WEgnbTWdcego5lHCwb2H0gxnNZrhFagRrVeqPlUm9+63fM8Y9uq5rXJz77b3Xtz3yv3v/P3Pg7XXt+0lcP04kq13r/D1AqWcVaanf6AP7NkS13unig41xhjlgOSv2sPO/R/Hj21/AQXsAbeW9f10Xd2PDLptR97Bvf+k393Bvq6358T/2fDy59tGvviq5JEZGdfShKOvssPA3hm3BAQEBAQMCWEF7CAQEBAQEBW8LZFbMSquBrs+1lz/laKYoIXrkCD18HalpM9pul16is5EUpFg8RfQ/FrDi2dIWXGX7QW2X2osf/IV56kiygRHn/xvcVKkf0th3sWnosRlYh6QqTYQoO97hHAw1Bj7pEqa9nn1PaeVMggz2xlFoOX9AG1E8Dr9QGylL0oK1Wlo728HrNJvq5LFO6Z7kCHfttq0zH9fhYz70qkNGMjNQN1Giiys5xVMAPeIm1N4IHbwQ1oJ7iVY2MyxjZjw7Xbxp487Z2XiLQywJFncbruq4RM6F6V7Sx693VoHDHSk/moKOzTMfL9ajx2Uzv/8mRZru28EPOhkpb+p7Pc4mQycmJ0q4OIRPH0ESm18sGltqO4Fu7WKOaINGs0mSIbPTartcCVRPHM/qCqxLbhYuf7dpDeh6LyM5IFbdShIyKVvtcm/AT9xqbUezhze2R9b9ZPcExmpmeg44VEXnwWP9275bSmG/d12ueFqo+ViKmV9V6rIjIINF9NKFqE6oZqNbmrcCcHB3qPvrG1/5m1/7BP6Ae4T/0g1/s2j/3D79ijl9D+u8Qe9ThiY5rnIJ2xvuh7HkT5xvtMzOyC2SqN4X+ftFjeRP4BteNztm9h7Ou7SaoPunR0fNTfRYPn7yr14ze7NoRDVpGOnblru3MYqX7fdpT5noawjfhgICAgICALSG8hAMCAgICAraEM9PRFbxiZaxf46uiR89l+vU/YkZyRNpXKRWKYMQ9ei0CHdxC7Lyl12sMytjZ7LsGGZPM9iQdHiMTMYrtcMBq2GRxtzi+QoZmtdRzPbhlaaRT+Gq+d1tpyFNkRB+fKMXh1z1v5Y125sETfA7i9mms1E3SE3JokdHeYJgYGWD24Hqpc8yCdxGRCBRuBUqzReZpnEJgo7VZ5yNkjzaR0ot3Hyq918KPeL4mTWv7MsKaqTba54cnoE1B5Z8sLFfkIJySDzGutR6/LBAKiO3/rQ4CHxUozbJWeiw+RaZ5DNGWVNe0iMhsjnBCraYHU/gZjxIVi6hX9l4icI9tpe31SgUe9iG8ce6yzaBvbr7WtX0N2hPhl+VMM63XpxARSey8xPBubSqd1xVUdzzCMt/mJY7s6ijXz41AL54/r9nspVf6XMTWOSR7yDpH+CeC4Upbww/Wz8y52rX+zQuNHrh3YLw3dh8qMphOQByoWmt2+CnW2Oyx3u+gJ/wRnZ9qP51mR7eVzlcJmtfVNsTmBXQyPHRvvPFK1/7UpzQLuIlsmOHXf/W3tc8nuM+Wzw5Ef7A/f/x59T8WEdm/qPP3+juakexaCF9A5Knv9x5BECnGOHFPvn+o+26zsGGGIcJn+UD7f3KKMEuG/WGgIQ/n7bNXrWFS8t3ZCYdvwgEBAQEBAdtCeAkHBAQEBARsCWemozelUkr1CpmfG0tHt8hqdHjFtzF0kSHw4VJo/6b2f4LBEMIGGTVnQVMjKy7qZSVGpJ0h5GGStpGBHUdWMWCAYv4cWYk1aMcCVGuK/2nmtS3mvvmG0q7v3qN+saVY/hn6uiOrWsf5+AloLAgxjEbwX+5pm7bg1ktm68LrtALtTA/cZGSpbWbVZtARH6TaLjOMfWHpuRg05Lld5W7m50HPIkN0tUIG9NyutxSUYtYqdcaQRVXphK/WmuEoIpIkyERtdI5PjlTv2IO/H01VeEFEJPI6lx6Z1w2ytocj7UuDzNvCsmMSCfS+eS8j3rNScD62iyQaKSW3f17nf4JM/TRXD9zZbGaOjxH+2d3RuSihuUv6vYVwiPQ0tdORXj+dqK5wstFr+j2ImJT2XtpKacT1iY7fPaRwV+vf6NqDXRUqERHZf14p1Z09pUGLB/B9XZHqhMc1NJlFRDJ6mYPOHkEDvcFesTydmeMjaHfvDXWPevGjn+jaCbxtDy8ptb48tZUJg6ken6x0vZ3WGqYo1pppXW9umOOHQ10LbkfXwgbVK6+9qxnRo9Rmnf/+H9Es6l/9uZ/p2osZ9nHsF9cmOkbf97Klo3cv6b3MTnR/fHSkc99CBKbthbUcwp1JjioZCK+0WNNRaTOaR/v6LO/uaNXAAOu1Wcy69ji5qtfONMQjIlKvUQ0T2zDT0xC+CQcEBAQEBGwJ4SUcEBAQEBCwJYSXcEBAQEBAwJZw5phw0yrn3RYay2l8r7QAcTEHZatxijILxjWgRDUY985VwgcVMU0Pr9UWSli+tR6+Hr7DGWIxCWI04pW/b3r/klSNxg/rjcY2To41Xrha6lhkCAtA2/yDc0GNKaGyF2NsUGdp+z7NVCZDyQhjlBNUEwwndixzxOTbGGpSa413lgO9fhkjpnqi9ysi4iqYG2AFDcaIL8O0oI5sX+JKx/xkrbHDY3rFolyshuHFemHjyw5i+6ORjnFGEXyn97s71DiYiIhL9HxJprHANKZimJZMND1xf/pBxzni6Hi08hF8hrEOqMQlYtW4WpRpVCWNTKDKNrBB5UGKMhWPmCq8hX0LNaBIY1wfXBTzt4F6GJbe3kDnNULs1Le2ZKNt2P9Z185z7eNOxjimvZcWsW+Bz3aMfJDlRsdiVts12lavdu1PnOpz/Mf/1L/ctX/mp9SooIaRR9Ez+SiQh1CV2v/7y3f0MxUNIKgCKOJRvbXa132ofvUt/QzUxyA+JXlixzUr9DoZcjsG+7ped8/pmiyWtsSppS1Nquf6o3/4e7X9v/s/d+2f/q/+Y3P8/Ycao94/+Fe79i//Lz+nn7mjY/n2Q72ZO39ffY5FRCa7+oyUyO1xA5S30dmjVxbkoYTXohy1gke6w0acN72SPjzjHjkBrdf+52N9die7KJtLXzDnmj5/rWtnY5uP8zSEb8IBAQEBAQFbQngJBwQEBAQEbAlnpqNr+JO2OMz5nrg/qGIqnLgMNBz4LXgBSC09OppqWpnSrulIz1vP6YFraaTEKz+bOKp0wWOyZQq8Pd57/R+lRJlNCTWfpoGP5lJpw3hqKSmBUk4CWiVFWY+HktTnPqk+vSIiL33o01375Zc+3LUHoFMj9MtVV+zlIeMSJUpVplAjKkBBtqX2Jc2sak421v4Pd5VSjEH5C8pnXM8HVKDiEx2DxsO6ilL9TAYz53xi6eCDqc5ltgN/0lYXlsccu9KWOWRDvc84Vd7QRzovWU5jht6tFLhPqoSBAt+ZwORjoPTWaDI152pEr3n0WA0YKqwxHyuF7MXOy3qtpgWbEuVSWNcOtF3d6OdFRNZzHf8F1PIT0OxDDP8w0x8eHdln5/Yd9ZaGGJRRwVtDRa5c2nmtULLk6H+d6TGbDcel97zB37UYoAztSOlJrn234dq1tGWB52UxU9q7KKFQBo/znrWyONzzotTjUzDuu1eVzkxQ/uInNvzSYl5pBFOUWqLVQtUrndpymbTWcdoZ67M7gE/x8W0tu/u1L6uKmojIz//iP+raH35J1fo+8QN/SK/xTfUwvvO2GiNIj1on1Z4iXEklthRz0bT2ddVWUCzDO8VUMkFJLJvY6/N18eCJloWVoKYPEPIZ7j6rx0Y23rhZvK8/5Nfku0H4JhwQEBAQELAlhJdwQEBAQEDAlnBmOrqFP2oUKSeXZL2MNdCQDbjm5ULb6yXMDczhltISZAv7VAWyRztK9e2dA9U3VOpBRKStyUtAXB/03uxIFaeKVY+qHOn5UlCSDtRukmjbRczi1exQEREP4f9dZNyNLiilM9lVOvLP/2d/xRz/p7//Zfykg/Zbv/TTXXuJjOQ0tYouGei2BWj+ClxhFKlSTD5WSssxm1xEfAXVpwKZw8gqdAOlw5MehZvBdCFC+GIJD+M4ZShCs3AHI6uKtgM1qOxg2rXrUu+rWmkHNktLI7XIiqWBRwRv6RhKbo23/7fGyM6vIoQsVtrelLrGPFSm6mNr8lE3UCbD5+hfXSOLeHliQ0GH91Sl7fh4huvTtxjnamz452SpdPxqpfRcCmp+b6xztHOATOWe5/QQczbKQRXDyKXGUJ6bWA43uqjU3+2bN7p2QUMCUNBRLyzWIiX56o4+x3/s3/k/dW3XqBrU1371J7v2w2WvGgBrpEUWdLEEVQzPYhqGiIg4xzCFUsCcvuLO2137/OVp13720ovmXPGOPqPre9/q2kt4WadQXst6vuJrVHks4Wf9+FgzyO+8ryYNc6jziYh4hHleu6F78gvrn+/aP/JH/lzX/p3x/7trv/4VUNMiUmONZHiPnL+s8+UbhJgaS83XKEepEO6D5bHQEyizLxsZpHr8MNN1tUGmf+JRleNgGFHZOX54pCpl89t/DX/58/I0hG/CAQEBAQEBW0J4CQcEBAQEBGwJZ6ajJUUWMdLKmp4PqIshXoA2MxzbWikR1JtLlFu6QCLSoOgq6B0S2EVrec8WYvl1ARrmSMXCiwWukdks3hJ+lXWlNFJbKwXrvdIlcavtnWxqzpXtaP9PT7Rfg7FSyOcvKTX90//D3zTH/9Rf+U+79qc/9qmu/QNf+sGuPQHttnveilLQ3MIVyJDNb+i9JDpHFAfxhd67iEibKY+W7oAebZXSoqVq420W78OFZv6++rbSXUeneq7LyByOHcIEVt9C2gjUYaNZnQ0yUmtQoNLz+mywlgTjIm6m109RDRDZNVrBt9cbtRfQ/Ajl0K9jU1g6usEx3ul8RQ3Xm/bl/h1kZIrIu+8opTlf6Bwt4A3dtghZJPbx9wg7NBWodQh/VJijcqPP96onjl+C6twd6P1fuqDZ3eMdrQDYrGfm+FmlP68O8IyeqpHM5kQ/Uy7t94llrvf5zisqUPJzc6VE3337F/T4BAYnzu4Dx0t4S5c6Fp7hLoSbnO8Jj2D9tcimbxB+KVDZsFrrPc56HrgXr+r1pwPde6MW4SNc31c2xNdUOucNUv3/v3/vl7r257+q43Xhos303R8rBb3CNZdLffZndzQ7+vOf+1/p9UBZi4gcH+r6ff7ZD3XtTa3nvXFb94dNZff3GrxzjXXt4eUdDfUzm8rOa5yjSgRU8yjTcOEg13Yxn+nnbeRTUBgh+bD3HnsKwjfhgICAgICALSG8hAMCAgICAraEM9PRCajKeKL0UrWxX/GrAn6tZA8a/VofC4rkQYG5tvc/AX72MNjdzJUeKta8iM2eo5+wh/dku4G3MNLnmp54dIssYvrOSqT0LE4rV56Zdu0v/sAfNufKD5SGe/sfa/ZcnUBwYKNasvdvaHaqiEjxUCncF64ovZtC73l6oHN04ZIVL3CifTsFu1etruMzFM6Af3JtM0+LpZ5gMkX25UhpmDmyHSsH8VwRuTjU/n/oQ5oFG99VgYfhUHnnSQ7hEGfnKI2QLR1BR/uC9n+9gNZ3bfXFRzn1ovX3VcHf0z/aZlfHEBVpva6/CvQkRWhShHKy3HLrNbI/C/ST2tlpotmx5/etRu3uWO+52SiFnU0gjpLAD7m2z4vR4T6v/RxAKGe+eF3byJK/dd8Kf9x5oJnaS6/Xn61B0ycaPsgzm8W7i33hFPN/WOn+4uHB6zIbFlv5WdceDpX2/LH//f+la+9c/kzXfvMtva9f+9n/jznX4hAZ/MjmZ2gkTZSaT3r3UiCj3peoLHG6J1Yt9gFoai/W9tkp3tcs3Bl0vF2OLOKSmfXWCzyOIMgDrf3Dh3qdV1a6D8mOPX610T0mQ5hmJ4E38LFWZlSP3uvaL3/k4+Zcc9Fn/8EdXQtzrF1qOqe9cKHHd8gGz5Wr9XNDhCWGkT2e2dEOet9tpefd29O5uHpN9/BD+B+LiDyDKpfxjvVgfhrCN+GAgICAgIAtIbyEAwICAgICtoQz09Eehc41CqjF2ew9h0Jn57TtE6WhmgYpqqDafG0zLEkeRMhKbWpmGyo94sRmz0WtUlQtqWlQrZHU37EtItLC+qryoH4yWPk5pTES6g1DkENE5PnnlKI4+KRmAh5WSnvWKLiPBpZeO0K26wAUS9SqEES91nPNHiu9IyISwZ6tRFYshTc2sHV8ck9ppHJpKbE8Q4Zlq5zc/EQ/t2AGvbNiHw3sLieZfm48hCAKMjzXGx3j+QzhDhEpKohP1JpV6o90LWWRfqYsLFXYYsxjZAE7rJcG+tz9DM0NbQ7xp7rRe16jMmCxhK1g3aO2YYvYxHhGQNv+vX+iQgq/+Mt/yRz/8FBDGHQY5Rw5T0EUm7U+BPO4d05puBpzefRQ6dAKVOFOOjXnunjpYte+fOl61x7EoMlzvaDZU0RkMVN6eL1GNn6qGsnUVd5srHhCs9Hxf/V31Nbwt/7B/6THpGpreP6cfv4zX9Dfi4iUp3+jaxdzvebsdKbXgyCKS+2z750e0zil9htkuruYmtawvhzYPdHPkQWMzN8Ytq0NxJNbuz1LghBf7HT89/e0j/sD3R9P7LBKTnoX+0CKcGVUwjYV9H29sSGLl55VQZ8J7P9+7dd0jTW09+zv75ney7UD3V8nA6XGj6FPvlnoXikiUkKHewRqP4FokkPFTorw0Si3c1wWukbXc7tHPQ3hm3BAQEBAQMCWEF7CAQEBAQEBW0J4CQcEBAQEBGwJZ44JRx7xukJjf03a4+kTxGHh5egRl4vj9Xf8PX1fRURqqLswXutivWYMNSGBV6qISIPSCAcP4STW+IdHfLrpDwdKTiKUP2UwF0hx/5tSU/4f39L4pIjIsyPty/e8pLG4i7/nz3TtGdSIksTGC1/5+V/s2g8e6z3/1//Nj3ftsoKaztQqZl19RtWJSsYrV3qdi5c1RvPRFz6nx17R+J6IyCDT4/MRympQrhMjvL48tWvkBHJapzOoMcH3NkZ5WJTA27YnVUOh/gzlS8OJzvcY66Ue2ONLKD2dwsd0c6plTabkJLOSW8UG6x0xqxjSXDnK69xI26u1/R/49AjGGoib7+9rHHF3omvk0tWpOZ5mIsyn2EDZKR/oNUcDlCuJyCClGYpe/xglXkUBowCn8dlqY+P+t+9oTsHRYz1+B+VGV5/Rso4Xn71ujn/x6he79uvvvdO1X3lD2ys4IHh7eWmRj3L4RGOM//lf/Zmu/a3f+A+79iWYJuxc0lIUEZFH9zQmvzjVazYesU+YfzSlzedoI11jHnunqzWu2CA+2w51HcYT25c21r5U9DVHGVTF3JLIlhdKxboqlHqi1vJwqf0vW3sv41TXUpLBsAZ7So1rDrDvHh/Z8sDTtSq8nZvoHvPZT6lZzbe+pX7Gj45sWVCK/eb7X1ajiz/+p/5k156JrqPXfucvm+Nv3dL+X5zqnjw+hxLclY7lhed0LlYPVDlMROTc/ie79nDQW4xPQfgmHBAQEBAQsCWEl3BAQEBAQMCWcGY6ugEt4VscFvXe4/QdpjsDNa0dfk/vzZ5wuget0bL+w4PmdqAXnS0x4jU96OQaSjuk8MYTey8JzSjwuQjqPA7mBC1KcdqmV241AAUO79EU9OqFC3quQWRp08fXlCr8+MUvdO2XXvx01y5jLVGZDKfm+L2pqtUsK+1bCW/nVanU9PoEPstrS/NHUN1ZonxpOVcKvijhs9tYOrqB96svOGb6GdfCpKOBKlXUF0fXedmgLxWOr4dQ1qnsvEQxKPRc6dnBGHQ4fLHLnqqag6dtQqaaYlR4XBqoxRW1Lf1KEh3Xi+d07R1cwlp4DGq+V/o1gD/r3r62NyvMN/yj6YX8wS8oiK/jHEMaapjrOkR1oDSRNQoY7muJ07mJrmuWv1w8N+3abWvVv3779V/p2jfuKZ1cwpgjH+DZK+1Y1o3e59vvo07n9pe1/yU/owpf7W1VbhMRcdjvfEMFJ4RPBrrGK28p3AgeyA7PvsuwFkHTs6QujS2FuxlgvaL0iWWLMedubBWvyhh0Op7R1UKvs6j191lP/Wuc6F7QwJd9A5Wph4c6liuEYjKx69Vv9P6rlc7f5QsaOvu9n/5c1379LS3PExG5tdDxf/1NnbPs7/1k1957Tn+f9kJJe7van9WxKhKWa6grgtqHOKEc3bVz/PB9VRlLh/Sj/t/K0xC+CQcEBAQEBGwJ4SUcEBAQEBCwJZydji7BPVFxybJ74iBcH5HCHeBStVJSLSihKLLd8RC+9zEoOWR7OlDeTpSC++B4pVpjiH8PIcqdpKDRnKXUpJ19x+tEUNJySAOOkN2bVKQkRIaNCu8noGeXM832jHJkNKfI+haRcqnUU8IMRQi3LJ7oedumJ5Wzj3sBhcvM36jU31dg99atNZNolnr/7QJ0NFS96kSpQtdjkFNQyi6Bog6UmSJ4M9N0ehBZGmh/F2vxPJXYdL0MoXTzeGFDFu/c+kbXnlNNq1FqPm70mkVlj18t9folqObyVDM5hyM9psIaXxW9OQI9F6MrNNCoQd/3TU1zqC61JcwB6PWLjP++YlaG6oIWVLlD1v8QHauRkXuytpmrsNyWBVSL3oJPcXpTqfyBUw9aEZEWGe0eXt4ZQiH0iq2Tnpf4BlQxaN8G4+Kh5uRrPvvW/CRCNUQEOj3Cc1iBm/eVpV2598WI7DTMKF5p1nM91X3MexuiE4RGfI6wHBQJ45GOS5JYmr5x+ixcva77zb//F/5K13708JWu/f/6S6oWJiLiHbL+saeOEKLb25t27Q08eOdLu78Ohnr/GzxXtx8rNTwa6lhcumgzxctclakGOcYYZhiH95QaP3oMYwqxnukXp0qBe1Q5MJSTIgX/wy9pZYCIiK90zdx+aH3Cn4bwTTggICAgIGBLCC/hgICAgICALeHMdDSSQMUwN73MV19DvAAZk75UigA6BNI4pRuinkC3A3XHvzDpOorBdU5s9lsWKfU0Get1KPjQ1KC9fO9/EmRrJ+hLlCqN1cCj0pPOjm1WYY7Uur09bU/Gmm0aZzrIox17L+MRqB/U2ycQ0a/WSoMUsY0TlBQyr/SYGr9vkFU5AGWciOWTXaRc4/AAlOYRzBwg6uBbS88x87aBp2mM66SJzkWSanvZE5RfH2HMvWZ0O2Q9O4RSvvmeep2KiHzlq7/VtWeFjoVHNUCCCoBRZtdInKjASdGoQP1mrmMUixb25znoxciGT5JaqdZ8B3+LII4CMZydgRVRaXC+1nPOkDmLc2WpzXpPkO3bQjhnhDUqeN428AZOnc3CbRzHUinRBNmybamfWce4hohE8KCOEc9oRH+/RmSgrKwoRYxM78lQz10j/LGaIUvfVGZY2rTe4FloGA6BFzo3xcaK+8NPQaIE5wI13FQ6F4ubOi7RuGeyESltmpzT/se7zIDXz/uoJ6aEe7v/UNfbv//v/tmuXcO1YZDYfWyIbGtHIQ8I5Zyc6tp/eF+fSWZti4gcJLoPbwoYpjDG+UQp58s7NvzyvZ/5l/SaME149AhCGjuzrrmcWVObCmJOm+Ut/RxCJjGqVHYh4rI/tuvt/GUNN+5NPybfDcI34YCAgICAgC0hvIQDAgICAgK2hDPT0QK/zxRZhdLTjq4b8NbIPosSLcbPdvSYFJmDSd7jGgul14qNfm69gIcruJ5o06OkkBXpRCmiCEXmpMBrZ6mXNlIqpYUPqHikfiIL1zEBvLXazyUyukmhZ7lmfsbwV3UR1R5EWox/udJz1QsVMhjBj3cQ63lFRGJQPBkoKnpyOpl2bXq1MrtXRGQA6ilDhuQStG2cKdWViqWRuC6WS2g3QzAg2oGWLrJI29ZShfT9HcOTlJrks6VS0FXVOz7BmtnofTLK0qK/LraPTAyqNY507ccQ3mhxzQi0a5ravnj4UZfw1i7h+dwgFjHsiW3Upa5LyrC3Lb2J9RmrC5vB31T4G6i69VrnZXai2aZLhp5qGz4ZQBhhMMCzh2zfYabrIh/2KhtieL82+rf5SvvMLNjRoEetDzRMQG2g9Qa69cjANxGTyGZHO6z3CgMb13pQjKqQdmOz3h32FV/qMRS0abEOHe63KSyFu4zVZ3muj76kDzVbd7Cjz+54166RJMIahx5/DrXxfVDOjY0kSY179jFDTvA2TnTtDEZ6rrQXlmKQscFaunSgz8gQ7bvvvGv78s7XuvblZ17q2ofwfr/1hmZEJ6WtOElznecMe/IaIigJwor3jnTA33jLeiMfHSPMk+sa+T/8e/9HeRrCN+GAgICAgIAtIbyEAwICAgICtoTwEg4ICAgICNgSvgvFLHilwk/WJTYWI37WNdOJxgzyHQp5M44MpZPYxshilPU409Y4Q3GCMqieiHycaTzBQcHJR1SRgfpWi9ofEYlE4ywepQk1Y6K53v9kR2MM1z/yA+Zcz31Y45X5QlPlIxhQOFwjS3qqO4JYFsTpByPEqp3GoYcDG0uKoIzloKDUeMR7M6o8XeraaW7jfQ1iLoI5G0AhjcYam40VofdQ88oYY8W4LuDte4TzJufsuIwmWhoQJ1P9HM67N0UpT259nlcFYq81/KOhDNREiJWKjSsJyi4KxFQL1lLBaCEqkIPg7bPja5T1IK5WCkuBNNafj3rrda3PhUccmJ7Lda3PRJLZ44epHp9j/uoK5Voow4sR669jlu6IRPCRHWb67I1S5ICYvcPOa4OSwAZKRRkk4iapPm+l11i1iEgLZbDFsY7ryUMag6BEiXkSUS83BWPp4YUtFcYY9+XznsoV8hgamt9gH40TfY7jDVQAe7khHp7PbQuVLE4lUjA2ac/bGOVWDcxb4hUMbhLdE3b2e7klCeLAyEloYZgyRJ4GPROSyO4jMcqfilKvv0FuT71C6VZPnfHkiT7LFfbLF65ofDg59/mu/fZvqve6iMiqREkjSsdYxrYzmOm5YvUMHg/ts5t53XvzXavs9TSEb8IBAQEBAQFbQngJBwQEBAQEbAlnpqPzCVSioLoSx1YgfIgymWwItRfQGAL1LE/vzZ4PZ5yCOoKnaX2idGZFqqi2fEWF8pcljhnvK42Vo0TKx7bEyTd6b77WY+gv6kDdsNwpyy01fnBF6ehzc227sfbfxaBDe8e7VD83nOhYTDDGKeitNLOUmEfNTZapcHvbKiVVQ3XIt9qXprKUWBTpWoihzBWBnoLOvGw2PcUsGGBkYxgtjECZp1AWwjqoW7tkNyhrSjd6/GAP5S8j0NnufdsXrKsENFQKlSbOt9S2lMZxLFD+4dBuzTG4RmLpOQEF7VBKJPAAXiw1lPHkoV3veQsvbyietfBQTjKMa2xDFjFLTlBWlYCqHY2nXbtaocSktGuEZXw1nssNwioDcKhZ0lPcAp3cYJtyTtdoCgq2KW1ZUYO9hGJe6VjvsTlRStHBY7yt7b1QsYtjVHuWt6HUr6eWF6EUzVN9juVHEUJEOUxVEjtHBKxuBZEQaeAfkPQUDR1qjiKUJEqi6+oUNHs1s+WJu7t6n+MB9psBVOVG2udFpc9h1Xt2acYxAm9dYb3Gx0rzXpzaUsfDue7PxVpp8/li1rWn5z7ctc9du2aOf+/d17Qvqc5lQj4f4Z/Hh7qm33/HKu8d30eYa/SefDcI34QDAgICAgK2hPASDggICAgI2BLOTEePz8EDGBmWxjhURNIJRMUbeGw2ECsHO+khNO/iHj0HUfMI2W8JDBRiAXUUWRrIM4sbijDrtVIcRaVDMB5ZEXkaPbRwjYgp3A4RdoHvapzae6krvf5qhezmCll1ENTPctuXNGIWuf6tqlVBqFiBUhlY2rTBMTV4rDhBtiWycDcrvZem6P2vBhqOl1lDhH0513OdnljadImxqEul6lJkTzpkZJNZj3JLrxWifTm5rYo6uVqSynhHx7UvIj8BBX0CCrOGSlWCxyRydiw8PIGpdT9GRjDpxZhUpb0V83NTI/wDmj9B/4e9OR5g/GIPlSqsUSoetaW9lwYZ0YKsXIi9yWapY1QV+pm2tKGcFs/iGlmoZYNqAIFn88CukRYGDhHoUT5XpInbyFKV9UazpZvH+rfyBOEn4wSD6/d8zbGNSQKaP4fhSgM/XHqkf3Av8CCGwpqLwZPnCMUVOnft2p6L20rUItNe9HnlvJbO7s8xDGeiGMpeMBAfQknMZdZAYrFklQiU4Bq95ibBukRm+Dix98JqmAL34rFej1fax83Khgk2UCLLYdIyGCntTBXEC7vWWGPw8p/o2rfe+/WuPYdC3hAhySRGln9sPYPXI10/7eDMr1URCd+EAwICAgICtobwEg4ICAgICNgSzvy9mdoP2VQ5kWJjC/49DB3oLdzUoEtAPVBE3Fc2E89RJMEpFVCUEMfHLQwmtoA6jfX4yIHiifRzVaM0gr26SI6MvRzZf05AXUG43WVKw2SZzdaEJrpMVqCE8me6dgFKpTi04vprCqdD/CHb1XGpEr0mi9xFRCqM2cqr9ya9TmuIy2+Q+eojSxVG8Pr1qYoMJAMKKaD4PbdhggS09QKi7hQFqeHvWsMZo2ht1ncS6/EHV3WQs0T7X4Jemq974wqx/QhiLZGbattj7faSVTl+roEfLwwzGoRcWg//ZrH0WOZ1nEaYPnqabnAvTWXnZbT/fNf2Dc0oUBmQ67mSgaVwHcIhFcIEVavc/gbiLkx6X/WU/n2j1GEK4RSH85Iar71dIzn6mUYqmlMjm7+EH3FZ9ShgnLustP8V9qQEAja+gfCGs+MaIxTma1C9MKNwECdx/a82CN+0mHOG6NxC10iUskrC9sVlU/2BZiagXaN4pn1Pbda5r0HHl6TJ9ZolTHgqhKVErOkBzXMaZNOv4ct9CS+O8Y4V/uDnFhBOKSlag5BBEtv4zQ7Wb4xs+rvvfrlrR3uaAd30/OIzZPB/6tN/umu//fYvdu0UlUDnz2Nc5urrLCKyWr7ZtQ/nM/luEL4JBwQEBAQEbAnhJRwQEBAQELAlnJmOjuCxGYGOjXsUgYtAQUNkofHQbm6h2emZ7WgJ4cijyJ2CA077ko7194MdS4nF8Po1bFmFTGcICbgeIU0vzyhBVieys6NUj8lYZD+y9FoFLeINMrVbiC80hVJHUU/ztVzrWJQrZJq39DmG1+qwl20aK13m18gUX860j7VSQg1416yXdZ6BUiNFVKfUONbrjXoaxwUy2ttGKaECGtNlBnqr1HPVPUGWBJq9GeZlAhrPQShmNLRzXIPuKhGaiFulcB09q+2tiOCaLiJtCY1eCL20BSjryj47WaZzPnAapkjxHJXI+p0tbIbmavUt/QHZqiWy4SMHOrb37Cap0r4lMv0XWCPLUjOaNwXCJwsr2tPkCJkwqzTH//0pQky1Pd4j5CGN7hdRrNeMQQEbEQwRKSPtc3RJ739nT++xWuox1ULvy/VETDzoWf4twT7Y1AiR9UIWDoI2wv0G1Dq/DXkw63VPhlogJBIzLLZB6A7iKm1q10hUY4+hdjdCdBFDIb1XRAwKf5BTbAX+0RMVA9qPVdt9b2zPlbob+gNEZPwIOt7YK6u1vZc20fOtNvpc3T9R4Yx96OQfHPSyoyGUdP2a9nn3glLTh+/pM7U3VZGldm9qzuWuv9C1zxXWa/hpCN+EAwICAgICtoTwEg4ICAgICNgSwks4ICAgICBgSzhzTDhOEP9AZnzlrdGAMPaLcowogqIOFNVrlH/41sZBJdWSn+FQu5rmGiOq26leQ2xZjmepgUOqO+JSTOGve3GlFj/HMeO1VOKiApDGa1xjgzmbud7n7BHijSj/gUCX5FFPgQjlCEWpsd/Neta1V6XGC6u1xi9EROoKqkXwtHWIw2eQpmrgmxr1pZ0Q4/K4T05fyx8aq3QjKCdwUBNK4Q9LM4Nhjrjv/tScasQ4E9TbNiid2xlrX/Z3rRLZdKhr7HilccEGakwN8hyS3nrPESSOhvATXiBWTvUtxPqH416sHbHT2um5SpQblVCpipqeaQFi2p7lbvCpZtw6yzQ+KiKStTRd0DUWweRihEVa1XymrELcAD7bCUq0kmLWtYcJjWBsKU1Vaq5Ehpi+SzWuV1ba31ZsTJnKZjH2JIHBTDnX46Mhnn3X2xZLlpilaNP3F31s7LPrEC918EMWlq4ht6QtkFsCwwsRkThF3gLyTARqgy3GpXnS8xNOsH4GuicNU3h8j+DT6pHNwQAATmZJREFUXNl9rMK+QH/gczDF+fiLyGeAp/vx4zvmXBsk6ly5onP03Ide7tp3b6nhyvuvv2WOdygPpXnKdEfXqEd53/ED3QNFRHZfUnOH0UDXohuoH/DVlzXn5vwzule8fvSqOddBrPvtTmOV7J6G8E04ICAgICBgSwgv4YCAgICAgC3h7CVKsdIoY6g0xZWlgTYFSm5Al5HQdMjBjyBUL4ktMaoL+Pm2Smu4DCpVDdWMbPmJr1GihA608HQViJAbBRoRKUAjCsqdBjLT/kMxykNov+8DGqPMh56u0RDmAqDQsqSnppTB3GGg4z9A6VE0uKRtsTTS8ojUmY5TPoJqzgClDZiKtrFlQRFUq3IIl/uUCjoY46g/FqA016pmdHoKcXuUeG1QetZsLNU3HFD1B+ppoPaTHaWX1qUtH6hAlQ9ypURJYzUNVLUiu0YdvJELqBEVkJOqUeKUs7zN28evgZJcAWMIrmoXK70YeRt+cXicW1DofoUSK6hX1VAMEhFZskQNz2iCYxiiYYnIcGDXW45+tvxX3ylV18AooXE25FFgXEn1ZjVDOVxXltqvsS+Rdl6tEI4A7RzVKB3L7Hr3Ceh8dNPBD5d+495bar6peR2YvMCoIPJ89kCz13aNcMwlwzE5wkoIsTU9D9+GQ4ZyrxqmDRmUpSY9FcLpUPv88ed077v+woe69qWrV/RcCDcNP/2sOdf8VJ/9m480dHnrpj6jdx7qmnxwYt81+1jvl88rHfw9H9e+bK78UNf+jX/0/zDHny6VHn/8QCn047mWJUUwEUov/XDXnsEnWUTk8X2lzVff5szyuyN8Ew4ICAgICNgSwks4ICAgICBgSzgzHb1ewGtWVJFks7aZrw5ZsbHx+CSPA2UhmCS4vmIWeCwPessjuzqC0L/v0XvegU4GRWR8NJHd3PaOd0KqWmkRD2qajFhM39vevRQlMgMXD/Xq69t6XiS7egq1i0iW6likMMmoIfa+mWsfs8SKpfvBTH+oMK7IcIxAz6Wgs31iZaJqZK6WpR5TQTTfIXM2qizNT2o+hVNBCjUeCD5JCUPbdm3p6GYCk43JtGuPR/DdReKtSyxVVGO9NhEyJFsoGyHbNU70GiIiDe65KWwm6z9DOoBRAP7vjXOb3ZzHXIvwbS2VnnSgXTleH3wOClANhPrh1VvBWKIq7bzymilknyKsd1YztBiXRWX7skE8I4t0LdaVmod4mAYMhnYsWmaHb/SYGM+o91Txs89bDuPdcqh9qxx8ktfwVsb1fC/rPMKc8ZoeimeO0lZlbx1wG0GmuYO/bTzSsUxPlFptEhsyaPksobKiKZkRrLRttq9KUCIiecT9Gs/bQud+M9P7uvKCGHz6YxryKvG8/MpX1MDg8k2t0rh07iNde41QpYjIwye6D86XOscfff561/6RL/1LXfvkfRuiS8692LWXa818vgkludm73+zaUWYz8LMhwlSIMh0/udm1T7HdnPyM7tW7Fz9pztUOdZ5O7r8h3w3CN+GAgICAgIAtIbyEAwICAgICtoSzi3WAoakqCBk0Pa9Yx0xS/T3FJnytogiRhydk0vMTblGAjgxdUpUCT88E/sMiIl705wYUaAs6PIKnp8TWOzMSCLcjrbAuQenAp1gaXsNmSG7AdySgCuNEM50ziJMkkaVwXYyfIXLQFkqDeAic1wNLNTqv/UxBbTtQ0xTKr1FIX9d2XsoStCUSFtuWFLaeN9+xNFKB7Esvd7t2DKMCMuApsmOT2GYlpswih+f0HBTuugK91/bWK4QUmNXqY2bn6jFxL4OfGcol6NkGIQ8Pmpe+q+2JzSimqEiG+/cmcxiZu4ldY1Lreo9Bu/IZreFHzLXzwXVA18GnuaUvOPoSgWaOXc+AAWuhTnQsGmTQFwiF5LFd78ME1RAlaFNQwFGCeellAbet9qcodL3VzFwGHe6xFdZW30IE6x2aGOIwxy1Cb630TsBphtJRs0GmOUIWjvtgAYMWEUmamZ4W2eU1BF1aZO421vNAaoSJXAaBi5E+R9/3uWtd+5kXLJ1947HuEW/fUjp5udS1P9vo/n7jPf3MKLNVEpMDzZY+P9Vnd7bW+Tr88m9r+1CzqUVEHh++3rXTHe3neKRzn5/D2mns9R/e0yzs48fvdu0V9sQnD5Umv/mOPnuTqX5eROSFl76va+9esXvM0xC+CQcEBAQEBGwJ4SUcEBAQEBCwJZyZjq6R+dlslDqo1jbjrQTFkTJbGJqvKWjDfKBdSLJedjNoFUcOukImY046sme+CTGCCD6uEQrIxYP6cZYS8/QLhf5sA0/QEhrPc/j8lnNLjU92lVa60KrH5uCy9r8V6D0nVjCgZTchQpJmWmS+2VG6Jmrs9csS/rIQFkggOJBijhyzzi0bLb5Suqmu9J6LpY5fAv3Z0Z6lkGN4Be8fKAWfQ7t6Q1EI3nxvipta6aLEkwYEZR5rNv/uwIoP7A20n0tcpyoQsoiZKWxp/nXBicFaRqp8RX9XhEg2rc3UjtZKByf5tGtzXCpUI1RLO8esLmCme4MM8JYiGH2NZIxZBT/kFqIOTYoMclGuM+7rroO197hmudDx2yBTl4IaIiLDiVLdEXyPOf1pjXBVT+yjMmEWfXYdQmmeVQJrfd6iXsiB+0rbcIwhwIOQhU972sGYF5+Q5kem+VLHxW/Aefe6UiC73220ncbXu3ac3NMDenr8Db2SkdE9QpVFiVH+1tsaLhIRuXOodHSLTPsEmtr1EnrNEE2pelUS9UCzqLNS99FkV/c0f/oER/T84uEZvgMd9hahiXu3vqwHbOx3zgpiTDEEkPge8jE06DNdo3upDRMcP/5K1x6BZj8LwjfhgICAgICALSG8hAMCAgICAraEM9PR8xksB2OlLvLcUo20CWxgoTbZUap1squ0WzFXCrWO7P8EzFhkRvAAWrZMV2xaS2nVoJArFLYLaMvYga5x9vq0HSPTbdzskOmbJkpt5nBPExEZjfVv6UapjGqt9Cgd/6JdS90w49Ib5g/0FCl7ZwvTkWAsMYQNHLSnPejRCPTScDiz50JG92QPush7oOxBx85XlhJ7822d82+9qeEMD4GFQao0UA4K1EuP0sJ9DhKlZ4cQ7iCLNV8pBSYisqEQiAcliAGrG1gcil1jJWl7XCg24tugFxNmINvs5hoZwkvY0SWYF0oHx7ntS7FG5jHs8Db4PRVhEmep+QihiRr64q2jQAboVAiy911IG2YBV0o1VmtQ4xVuJrVxhjRWGnOIrNoYGvY1KiY2znbAQbt9dAm0scAK8TEyyMd6L75HR8c15w/iQtARN2x4a+M3UTrVPq9btPUzDbL5PfroBj0rQlDVbQ1t/ZEKTHCvcr0M+pghENCzsdN18ehQx+XRzGYkNwiNZFiMnNdsoONycaq/v3Llc+ZcgveIa5TCjUUp74dzhF82Nvxy7eJzegz2Dmady/T5rnnv1jvm+OMTVMNAdKhFZUpVw7oR1ombbGbOlUJj+uGT35bvBuGbcEBAQEBAwJYQXsIBAQEBAQFbQngJBwQEBAQEbAlnjglnA+XcYwQ8rx88Zz73o3/g4117Z6yxzxkEdYqlcv5V9XLXPoFQu4jIo0eqtnK6UG7+yULjFLOlnjiObGnAAOVSk+m0a0cUx0cpRtnzRm5LKmhBeB2xgTjS+E2O0hvnrIFCGyFeCmOKKDnftdOJxriyQV+QHtcZXezaycF17QtKSRKxpTTtBmLxJXx74SHrIz2m9fqZJLOC9gnKbBKo9rhc4yIF/FGj2sbYrl9VNaS6mnbtW0c6rxUks/b2EGvdt/c1maBMA56qUqHcaYPyk9bGyscDXaNrxHTbFWJ3CLKliS1NyBA7rlhygljecKD5EDSjWFa9OKbATANKXJvNoX7oVO93Etm+rNf6/KwLndcScdwIZXhxaudVUpTv0Oebx1AFDzHhhgkNItIi9tjiXC3U5lqYp7he6VcLJb2qwRibMjTEO3tmFh7PYgo1qBi5Du4Uakoog+pVjomkiBfSHBlxa5q6tJE9AZX7fKLHNA3i2zSP8VAULG3pV8Q9ziPWjvLIGvkzqbM5Ow7GHA738sy+Phef+LzGZ3/rqzYO+84dlgzpWh7D2/jKZV3v3//Zz3Xty1etct79BzqXt+5pgPzksZa+DcfYk5Y2B4Ke1ykU0sZQCzxc6npbrqz5S428jabFM9ZgXWK9lChpevJA32EiIkmi4+KH9ll4GsI34YCAgICAgC0hvIQDAgICAgK2hDPT0R5GCQ0okidHM/O5V1670bUP9vQrex4rRRHXSjc4UKDDXmnAQa7X3IOP65VL2u3VRumCnkiVPHp8q2sXG3rCouQBtQWTUc/0AGLzaar08mBXBc4bUNbjXDswyntGATlNG/T3EaguGgW4tEdpgRJt4HXrQaFTDanoifOXKI0oGtKz2mfXwHSg1LmoeuMagfb2oKQ2a70mq5LWtS0rWqI24+RQqbfFQscygQIOPaOjyJbVxDH/RroLJiOgiRvco4hIA9WfhscYAwTSVvZeUKUiFeixmt7KBcIMoHzHQ7tG6M1dQtmphKMA1aPavpwSytUimk6QX2WJUa+uKAZVSU4WVXg8XBqU4rQ9Y4wWc96yDEy+M7yz9+JQIkWjBvp0k8Kump4yVInnBf66baLrh7frHcvgegBt6xBmccK1h1I1ZynkBsd4UOsOn3MsV0OJTCx2XCNOBkxiPMbYVHr29lRPOh21jvdPdU+O3lRjg9NFT5WN7YhjhpLEUx3vb71xo2vfvm9DQYuNztnpMcqC8BzUUP5bFnaOT49176DJSIQQ40nNUj27+hp8jvMiDvurWQwI6/TmhR7pB9OeYtpTEL4JBwQEBAQEbAnhJRwQEBAQELAlnJmOFvqD4mv8k8XMfOyV15RKuHpOv5ZfQ7LwJIHi1kgpgsluLyMYFG6aaUbt5Cr8YZFheOfIUo2zo9tde7EA1eqUxspSpRgmQytzleBvw4lec/rM93Tt9elrXTuqNbt3mFulmgT0dAxKMmJWJ7xySYWLiLTgmBrQyR6Zzi34tXLdo6OR7VuCYnGgUOMYfrhQ5nHe0jj5DqhGkHeko5dr7cvGcjqy2GifT4+UUlrOlRKbZDqvNCP4NjoavsUR1JQE99VUyFpubIYkMyxrZJS3AvUo0NG+p4bkmCEc67kKCP07UN4jVBlkuQ1/VCu9/w3E7plRTZ/pxv8udLQjhQuVKhzT9CjcJP7nzDlCUcx65rg0jV3vLej4Bj7HZMapkeVdb1yx3qNU5zz2rACAx3dvXqSGgYXD/IM2NsJ3/Kn/1QTmJ45e5PhgSuW0xG6rLUI+vuG5QEenNG1ANUBvvUdQIiOF7eGN7Axj3dtHSIdj/O5DPer0TXw+tc8+lcFihEY8zjWf6/P92pEq1CWJzcZ3OdYfFN5yrnEoVi0ra2pzutS9Y77Cc7xkKEOv2Rb954XkOt2GkN3MmAVCFjbgIJLAG/vi/kX5bhC+CQcEBAQEBGwJ4SUcEBAQEBCwJZyZjl6tlK5woJMHY0uXXNxXCno6VXp3vUZ28li/zH/803+wa//BP/tnzbl2kEwHTQjZuaDH/8Y/fK9r3/pbf9EcP93RLGbvlLrIR0otV2st0m7qfu6mdmANEfqDgdItA2RbNidKh473LbU9hHhAs1Gqs9poBneDwvBm0suO9sgcBk1Oqs6JiptMxnZq471Leu5UaZ12rTTOulJKZZMwU9bSQHGq/7uxLxnucYDM1bjnW+tRTH/ukt5XfATxg5xGA6BWE0uvVciwLOa4LxTv0zc06Zl0TOAjWoKumpXI/HRKE7e9rMhmA59qJEWS6qMZxApe1EltSa0IAiVRRTcPnZd6AxGSta5pEZEo1vUapxRegUkHsvmjHoWLKIfUoGdbzD+NESJsH63/XQQqSIEiO71FWKjZ9LJ4YWxSZzrHmxriLHhefdQTpUB2tcf40bTAV/DA5b3UfREVBb2lPdalx3r3vQx8h88xo7hBBULrZzhC+17mdlyihPeJDP4Y65JjbLsiziiR6LxWDj7XyPRNernio5h0OkVU9DOs0ljC8/jkGD7H0jM8wbg4PAc1nsOol0Gf0tu6gZgSPbMTPiP22TdZ5DGrBpABD5OJMUJJF57V8KiISJ4jXLob/IQDAgICAgL+hUB4CQcEBAQEBGwJZ6ajR9BfHe0o77a7ZwuwB5m+16kNO9jTr/jZUL/W/+ov/82u/U/+8X9pzuVA/XnoxH78w0qtnrv2ua4dj2z23c6O9mV3Z9q1x/sf6dqPbr/dtctehuYL17+3a+d7eu6jh9/Sa5z7cNc+gI7zufMvmHPVyJadQRu1bFXQhAINUW51rO88AD25r+3hbc0+rKC3m2c281ZWqiu8KpSjWs60ML9GFm7sdY6bcmZOlWP+4sG0a58ucI/w9FwVNiO5QCbi4bHe/wbZurtjXW/ZBDRtTwRljM+tQCnVSx3jAjrSh/DFFhG5/1Az2puMGZqgLVsIPMTM6RVpkOGZUkgDIgkNfHorUGVx05OFaPRxLGtUI0B4JUF2rfdWn7xAtqhE+lwywZP6HqW9FbMZJPj/3DfQsa7U/5lC0q5HR0uFkEmkzw5pYwpMNL2QxQJZ/yNkigs1mpF1LpWl9luQyMXRna5dJxe6doJM8brQe6l74tEJKMkWAisOQjkRPvNtmtwUAiGFTQo21rmMMPfOWz39GPrsrhnic1SNgVCJs6GkBn+Lc8b79HOp13vZ371sjo9A89cQ1RgNED4a6VwWK+qW2zlusCeWJcMH+hmGFRpvvzM2NTX4IZwC7ewoBW3c2j2VlR2CkI3DPsLqhwIVAFVl+3Lxsu5DQyuR/VSEb8IBAQEBAQFbQngJBwQEBAQEbAnhJRwQEBAQELAlnDkm/Ic//2LXPn/+pa69iW0sZjbX+N/DmcYrb0DNigYES8QMyl5pwPmR/u33f16v+aN/4GrXjibf17V39rX0SETkhScQIgeH/+ju6117b6TXnJU2dvnuG/9A+4x43WKp93L1opYFjT79ha79G7/w4+ZcKeKacl/HZTN5o2vXEGSPh3Ys3n5fY3Hxw6/qNX9HY9qVaP+Lub2X8+c1bT7PNK62huJZAqWeHLFW3/NZ3oVA+cVjVYfxj/Rzm1JjREVP6Sbf0evvXP1c137y4Ne79jd+W5XIRrs69slYx1tEZH+KJTx6v2uWKPEZwjxkOrUldZ/7zIf0mBbjjxyEwUTHJcn7JUp6vqNjnaPD+zf090ca15vPEPvatULvMRXaYIgwHGi8K4vpa21LNo4LKCghByBCfkAFxbD61MbHq+wZPXfEeKmWlpSISQviu6737LYow/MRVYfQxFC2vTK4jYb0pSqo+IU4XoWY6MiORex0XqJI70tQ4lRCjckj3ujXti80h3AV5gweuhHi09G6p/6FXAN6MIvTmKxvdS58jHLQ1iqReXjiVohxugZlfBTh633PyoZY/3iuGyQOLJDPkcDYQURkMMA4IabqoGTGx32FMrKi7wSD/U5QruYQk3ZQaqTf9Qd/xM9GpYwxeHy8l7aQOCpzad5Fa4rS8Ey5Wdce9HzJp0NdFzsDO2dPQ/gmHBAQEBAQsCWEl3BAQEBAQMCWcGY6+mD3oGs/f0FVhurWnqLc06/yLx58vGsfQlT7zbvf7NqLhVJ4WWQprXyk1MnjldJbP/1r73btYvPfd+3WW3kYj76lA1XPOnfu+a69f07LlY5QriMispzBaOBUKbmdc1rmMMa4vPbKr3btdY+em59A3WallGqUQS0dZQJubBWAHtxRZbBopddpUf7RUPWlsFTjtesaTthDDj3p1RJC8ysYXtAMQUQkQ2nDcABKqoQCjxHwN4dLglKy83val509pXRO5jpep1DNcQv7f+PpsV4/H2s/k0R/v05nekBPwx3srsSg1+o1BO2xdlfOqqqtFzrPE5RppBDXr0+gQIQypqNTGzKoMc4p5mUKb+UdjFe+Yymx4WMYcKx0jXqMRWM8hC21TmW01VrX/qzQ551mEFTPqjb2XC0NLOjbCz/mCOGTxFkForaGMQmVpaAY5bz2xW8shUzqMIUqmstAYUPlqlnwebF0YpzA2AIlM44+w+yX62+r2s8YJVakWtvRtGtHKftoOdQYil8RS6xSPK/waG83tlyqhZmFUXVr4GUNw4112fMTdqSHQYHn9DNGGdMCpVuJLZuMsN81NevlEAoC5f/MBRu+ef4lLQ+NcC8OSnDlQEusFo9fNceXKOmkN3QV6bNTrlRRcW9fr3HlsoZHRUQu7WmIdLzTK1F7CsI34YCAgICAgC0hvIQDAgICAgK2hLMrZg2YYQoao7a06eGJUg7HEJin8PfHr+lX98vIaH5SWnWYJ080M+/9m2p0cHKK7D3QKGluqZscnrDZgR7zzh3NTn7zbc1O7tMILzynlMOzL360a9+685b2652vd+1qhQzJxNJznoo2VOaCd2U6UKrRxT0fT/zYIP2xoQIP6MzC2+uXhV6niLWfJVRgGtJ7yCIlbSgi0pZKg1YpqDZkfnr4oNaVNRqoV7oWFjA3cMi0b6E8P4J7B+lAEZEYVKtDX1yqx1Bop23t/50J6EFSxWD0pAFtmDWWnisaPf7hIw0Z1KVef/85pc2WCEX4tQ0ZrDGuvkHmKlS22PuosuudvsVRov2sPB5z+sGmlsKtkVG+Xj/p2psNMnex9mKs8bixmaue7CI67WFaQQMH6Xkj+0gp5NipqloEetIj5CG9LOJooNdpEoR54BntQbu6hJm6PdcDrj+qMUUcbxo72MNbrquxziufdxqOMAHc5b31OlCqtEa2cVSgX6jkiDO7RuoSzziyk6MMnS6wXnr7WEyfdGS9I5Il0Y5+ZryL/WVj97QGVHuKsUyQwT0Z6ULa3bHvmlGi97Kf6XrZQzVBNT3ftZeZjp2ISDLSv13ehzLYWN9PT470vbM/0XUxnX7GnOvaBX0/5MNARwcEBAQEBPwLgfASDggICAgI2BLOTEffeaSZwy0owTa6Yz633iDLrtR3PEUGxplSD+cuKg3w0uiKOdfigl4zS5RuyEZ6/MlMKZ153RMvmCvt/Nararpw/75SgmmmQ3D5nNIQIpZqfP3rX9N+LZQ2b78tE/KfIu556MLjMwK3HMGPmImHo2HP9xamCWQh1yjy591nvX+vEoQDKBJQG3oQfXYQAkjtvHjHLGw9V44s0AgerkWPnjPC7fDwbSCiT9qQhydRjx5zKOynPywyJOtW5ysGzSkiUmPUPAQLPChIMNsy6usFTPSal579/q69l2lW5c5As/Hfvqfz/corGsoQEfFMI0e2rYcIPyk8Y2Ag1p+VHsKGg2YopLH0Xl3rWqpLZHQjWzfKMUYwaKkgsCAi0tJTt/nO3LQXhhZ6bhKRiic0QlEMvU4ECrL1PbEQjFMCcweK5tSpcqgtOeQeBevMNon7B2/cIru37RnBOJqhY/3VEERpmTWNWEjU26Irr9R8K/CGzhjKgCBMPTPHxzTQQMiqhYiLBzUfj3rhnxyZ10uaicAvvtBrRLj3yNlQTj5BZQRo7un+tGs3zM5u7f6eoAJhZ6x9GcHY+xiiQVVp6fB4gFAUwmI5QoSbRMd1XyDI0fv+Wq9udu3VjM/CH5GnIXwTDggICAgI2BLCSzggICAgIGBLOHt29IR0kVJNRWkprfmpUsiblf4tBYWcg0UblEqvZIWllOpaP1iAVmkXSpUuNkqDrEpLndAfV6BtmsUQizin3sR1z5P01qOvdW0Hzdwkg99kDCEA0FPDXqb1aqnjV9baZ0eqEPRc1ZJOFGkNpQfqCxRsuQZNLjYrsq0hOABd4gQ03hp0co1sy7SZmXN5ZKK2sdKGNY7nVJRFX61DKa0UxwzhO9wypRm+q3FiaUvndPwres2K9pkUdux6AhUcS7BdXHtVxCxaO68HF1Q7+0v/yn/Qtb/4o5ot6e/qvNx8W8VZfukNu97/zn/957v2KTS96QHbVvrsraOecMhG++mxxnhf9Dz2uaWzSzzLVaUhmwaa4g70XjyEb21u+yJrCE6A6vNGexrroqeDbWIQENVoqa/+nVnif3ohhEYQT2jgzUzKukX4on+qKOOzT9oYz0uJLH3XX++sjIBvL8U6IM7TrChoYrWbKSrhIaJSU+wC49pLOuewSIzM4yhRsRSPPdWXveclYVgL2dkQZi6YZV/oZyZDu0a+/2Ma/vvCZ17u2vdmWk3x6tvq9238skWkLFHx4ad6HYQ7JYJQTWOvz6cP250kTu9xAGGj81eUmo7s9ioCb+M8++4MhcM34YCAgICAgC0hvIQDAgICAgK2hPASDggICAgI2BLOHBMe4KPn99QMoex5REa18vwzBKNaqCGtUDJyBH9Vl9hzJTXjRxoXGoHzH6QaFzktre/t4yOkzUO4/dpH1EP28J7G6I4OrYLRACL6Ccp3Gg+/yhqqXJnGWOrS/n9TFhrP8AjMpNQ0R+lS1TNgWCJVv4VfqW/1vpLBCL+38ZPRrt7L3i5KNlAKU1Ya81ihfIPlOiIiMWKkE5gINCuYLhxhLnM7rzXKTOoK98wgDT7jEc9uet7ELeJyrZvqH1AilaPkJI16yk7wYa2wlhtBvAtlbK4XVzo61tjpb/6j/7Jrn9zUsqRBer1rf+WV3+rab78H8w4R2dvVuRzB97hcqsnJYo61t9D4pojIyZHO+fIUZU3wV02glpaOe+L+GAuj0gWv1homD+VM135b9TxUaXSQMSaM2Ck9hHvz6vDsxYgl+niNzyBG11PMipErkUA9q81RogaDlojx4V4+RYJyuQxlbI1HfDzS572VXkwYz2iEddUgN6NErD9KsVfYYZGohc83ypWiRJUHE5TYtM7OcbWBMcYGpVAxlO+g/hUP7bPvkF+R7mGPKzEua/1MgRyCvbENUF+6rO+K/Yvq+Tw4DyWry7pXHz9SpUIRkXuPdP1HjbZHnOOR7m/1iR2LGCVioxj3RW9iqMrtDjV/iPFoEZEK+RiRBMWsgICAgICAfyEQXsIBAQEBAQFbwpnpaA+qdLnStPnl2pZZFKhNaWpVDfKgXhwE5SfM9e75TVKgPI1hdACD0scnSt3cPLJGAx7UYZopPXjzW7+pfdxofw/O75vjs5ip/qBS0MwGoCpBnxetFYFvoUw1ypWem0DgvIa5QNNaHmoMtq2CucKy0OtQtSbpleKUoH2XKPGKIijtYIxjUzLSK2VB6ddyoWuhWekxG3DLjbfLLM9BUU2nXXsMb+I1rpFDpSnObElcAqo8Q+mYj/W+HNTCmp658abUMSvJVDuaNoAC7dF7iEzIowe3u/b77365a5+utPyjWs94tDkX/V0d5rhBiU9Jk42kV9IHEf4YY9x4DW2sIeC/ObbPW5LqXCYwF/DG6xXldWP017JzRk0qQskOldQczUciW3rWJFw/PP47l0pSvUtEpG5YbodSHK/GFDSfaajw5Xp9QflRCdq5wZ5ImtbhmRIR8QmfHxqGqBd5BN65baCEZSsVRSqd1xb1Rx7llRVCA761HrwuZ2gBv4+hGDXlurD7WF2jJBGUbFxM9Vww5ohqpcyPju2e9AgGPW2me297pM/RMNbxGn/ImibUsfrKZyj32h0jLId9c9iTEUwmes29A6XzM/jYr0Az7+yA5i+UMhcRqUYoy+pV6z0N4ZtwQEBAQEDAlhBewgEBAQEBAVvCmenof/IN9Ur99EdB8/YMDJag25bwIa28Zqz5Vj/joIAz6qnu5PgfYbFWuuH9uaqo3DuGiPjAZt/lqaoZPXn717r27FhVvUYQgS+KnkpVqf1PjaA/MnpL7dcG1HCU2HtxFGhPlToaZlM974DUvKUql8eaUV4MQUPOtLmuQc3mel4Rkb2x0lIZaNACdCwNAKj6kmaWRlqvQc9CQccnSj0lUCnKe9nVF6+oIcQYwuvFUqkuR2oYDHJb23FtoW7T1vDgBW3bwDe27dNzuM6QWZGgSiMBbdrTU9rUSr3dv6feo/fv6horC6XXPOjMwcDO8d55zQQVetDWzLzU+Vqc9LxiF3rPGcY8yXDPgymOsP+DF3OMP6jOHD6uq4Wu9wJhKW8T4CWCp2ucIeQCCpPUftz2snCZFoxwgqf8F0JcUdIzTYA4v/Ozrt3M1VO2RSgqZpghsXPckCo2YTXdH4zCW2LHNTZUtZ7LI1O6dVivG2aDW56fClreZGortRohg7xtlX7/4Nw8F9THEBaM8VC0hQ2/sLgghWRZBJrbYyzaESs27LN7657uF9/4nV/t2tMDnaMf+H0f79p/4t/8d83xv/ALf7dr/9Rf+xtdu0HoLxnoPQ5zu4+1WP/lGmuf91L3Mt3/KeKewU7casgpW2f9j/+uCN+EAwICAgICtoTwEg4ICAgICNgSzkxHv3brja797i31Ttzds5mAKbLsaGggTr19KfZNOjrpUbhto9TNCtlv60ozotPRtGsPKdYgIkdPlB6cg2pLYqXnmKndVJZ6yEEJp0M9xiNzuFhD6H+tXM9obMfF4f+d5VzpotVNzfCLIJARpTbb88FDveem0GsukJHckF4prVjH8Rz0MARGaogc+AQZfvATznNLrwyGKGyHj2mzVKo0HyoltDeylNYLzyh1Nt7VcMB7r7/etZegvVrQ5M5ZCpYMlxc9bw0arsI9ruY207uBUcNwBAoYGa5RBOGUHrW+Wuox84WOK71LPbPD0d+26gm6gN4lvedS+HIjrJAjU1VEpEAIoIIoRrmEQMRG77e/xlyMbN9W57/CZJiQxQhrfGCpvppUKzLaIwxA7GhkYsciQmipqUFpYk8QZrr35oVOBR79dygzoFiIR9s5K8AfQRzIw3eYQjkMa7jWUsjM1G9hxhELqXkIC0E0pV3b9c4saIZGWqeVKK2HOEpP7MMjFEU6vKhg+LHQuYiynlMBRJMSCDA5iLNUGz2mwnxlie3MEs/IN29oiHHwcNa1H57oOviVX/lXzfF7u/osXLuqwh8j0PEVfZZdb43BWCNGZU7sNFO6gRFKg+d1PO2FtbARFX2PmKcgfBMOCAgICAjYEsJLOCAgICAgYEs4Mx2dZBAcwLv7ybGlPSUmpYuidyPYAL1f0MwutmIbEbLskhSZkEhi9uWsazenljpZn6qur4c/78deVOriT/ypf6trP3PF8ggRPIxTZA/6CNTRQPVEW1DD5599zpxr57ze8+jJV7XPz/3Jrl0hq68sVC9YRORXfuLH9foDFR7Jpkq3rDco2J/bsRzvXe7aUY5MTFBC61pp180pqOXUZoumI3gzD3VcVje/pcevlGZueuabF84p3Vcl2q4hiFJXyNYcI7u0p93cRko9xdAez+GPKqCcZ7UVH7jz4J6eK9a+xA4UNLJg69g+MuUxBWGM+LW2sGDbRmnyurSiENQhb0gVI0OTmeqXn1e9XRGRPYRDBGuJVNmm0IzU40O7RtZLZIFXoLaRHe6QhZxDV7jpZUe3yHaOsM1w9lpk50ZpXzgE4jwTXePlkrrt1Lq2VKfHHhPtgh7l/BccL4TIGh0jEZEItKvg/mNkt7tI105b2TUakeoFhS0NaO8M9wUxn2ht78s10KFOsPZzpVBbIzzSo2DXpLMxabwvhGLiXqZ3g3srNwxfQKMZoYwEGdxZasNaO6k+FyPsEQXCWotHGvo8v2f7Mpx8rGtHCBG2NalxHYvNyq73DPOaQ+95gFBQM9F7nOxruMu3dr0y5JREVkTnaQjfhAMCAgICAraE8BIOCAgICAjYEs5MR0sNegcZcr6XPdc2/CoOqjlhViIuiwzkJLFZtMmQ9DCs1Wpmyyp1Uq2t/V9DSymIJIyQkXv9JRVI+Mg11XIVEYkL6MxGs67dZkq3HFz8aNfeHygldOGazZ6TATJB37qjv//I9+BDpH3fE4Nb2s/9l/5g1/7ky1/q2ptGBT2kthmao4H2J86Z/UnqjHSNjt16ZbPGl4/0OgfXdVyPvvpTXftwpudal3aZHZc6f7/zzbe7NpPpmYXrsUz7Yhlxo2uxWYHCBuUeQeNXnGYgi9j/QhtQ3R5iyA5hkainCZ5CVKOF9reHwogJszhmXfeEEFJm24ISiylKgXZus3g9LS4xrw60bwbacrJnxWk2aw3fbArotg9mXXtAXV7MUdtYoRyB3rNHiMrhkq5ERnJtj2/BlNak6RnWwlYT9QQ2IuhC+4U+7zkoUVqKeoS72l5YTBAa8Rsd84bWqTF0kNv+ngi70SHuGYwmt00PQZo27a3XEShdiCG1BT6HZ8K1do4boaCQ9itFlUoLMZ4otvsYLR+9iS3AChH63g2eD9/TvXCgyvdHuvfmoIOnE72X/aHd373ozzM8+wusl3WLMfq21x0WGftMS1NQ2DWo7drftaeC9ad3vZT0pyB8Ew4ICAgICNgSwks4ICAgICBgSwgv4YCAgICAgC3h7DFhqLAI1JRc72MMh/iKgQ7GWRCvg19k1FMaiQoNIrQQcV/BsLFBKU+U2dKABOo2aaxxoQhC/1UB0X+x8Q+PVP0EpSmjRM9VrjSuchflKmtBvEhEMqhh+bvof6TxYfrsDndsXOkU4vzNI1WXOX6i9++clov5nqL+/InGcR0E9alS1mJe6ENaFnaW1zNVamoyndflscZRi1rH6GhhYznvPdT41Z27uC8H0f2YsRz4yfb8TR39ZVMoBXnMK85bextHLSqN+xe4joc6TuxgWBHZsdjw1iK9/wS+uUkMJTQK+Ge9OChKbmLE0hKnn6OZRNITl8888iNoYMEYJ+KNFw+0VE9E5GBn2rUPH2vMCxbhUooqM603Gq+rq36JkMIViB1D2cpBZirObblWjXhxg0FmHNWh9Kxp7eZRrZBHgJiuwADCtRgXlkr2SuqiBPFl1GJ5lPs0EdbuwJaoRFwzFcq9cPmkQnkeBtx5W4YWY0+rPOLzRrILMc3K7kMiyKFAWVeEWHuK/cH382wwzi2MRRxybtodKE6tUGrW+8o3x/FNoYYnOxM1eDlZ6Hr7+ju2bPP9B9/o2iuUZ+YY7/HeN7v2tJc38KEP6/Ny8bze59ipV3CB995qwxyAqb0Z5D8lPT/ppyF8Ew4ICAgICNgSwks4ICAgICBgSzgzHd2AxorddzYzEBGJKAJPhRQK19csbdCv+GVlqcKalCqMIVimkoCCjiOoJIlICzq8Qgda0DUZaMO0py6z3CgVUq7h44mSC++hyHKi/XpwaOm1AqnyxXtafpTcVbpkNAT9nVof0Fe+pqU8yftKl92+C4oEIkvF3JYo7e6oYtZwCvWzJdSYoH41yqFWFvf+V0M9xarVPh/fUbpotj7EAZYan+I+X3xe19LyUGmsGzeUq5stdewfP5qZc9Hv0zuuF5RMgAcry54gPihgGgK08Fl2oLnrxh7vQGHvQlFHNlBJ8uBQIRQfZb1xRSmS0N/WgZ5saABg6ejhEOfG9ZcI6zQopVg3ltrfGevzd30KNSJ8pqi0jOneI11jj27ako1N+53pYNLxEcT1o9JSuDTmiEgns/QqUTo27hk40HiA5gxCX/MIZXAmlGPLeqRiOARlaBlpY1yismukYvlOyzI40Ok8b0vK3ioSeniGM37nEqyLnJS73QeaEuG/DOsSdHKNEh2prDKUwz17UPANStQy1CIlmJeysH15NNNxKQq9z+QxjT2wb/fU7tKBnnuIPerkGKVLCD/c3lhq/Z0HGgo8RFjvSz/8Y117jGd0Z0fXTpzhWReRGLR/7Xblu0H4JhwQEBAQELAlhJdwQEBAQEDAlnD27OhY6YIaWXW+RzV60C0xWRnIIbmY2bkUce9lviIrN6bSEDJk24SUjM1+y/C3BJTk3u5FPR6C5Pduqli4iIgD7ToeKy0zGmg7m2gmXbOLDOrzNlvzZKY03imo9RIZgmWJ7NoY6lciMsj1fOfOqWnEi9df6tpUccmfs5SaL/X4FaZsg4hBjPEbYl4me3aZuEjplr19pXjKTD9Xl3r8sqeGtFgovXw003u+cRtjtNQ1dv6yZksWkaXpHyDru/a6Rh1o5hT+rNKjtDylikABV6AwNwvNBu9n8Q5S+JXif9qa2bowB/Ce1KY9Fz1wyce2oBTXiDlEkf0fOoYymENGeJYp5d96VBP0/Ls3CA2RgqfK1Hqha2SJzNmip4bkK9KuULzCeMe8/siuMQ+jCqoZUZmIng0MC4mIRB7qY1jLtaGmYZTgp9qv3GZ6M2zQrpgpTcUt/X1bWdqV64phvSaGKhuMSFKEa2i+8cE1lar1LVXlsA4bPNQ9YwyRmfYTt5nQ8AR0eN0L0TlQ9Qn8x2Mo8nkoz7UYO3rHi4isQA/P51BERCVK7Pns9GpxsC7GE23v7OnaqbOpXq+287pBFvpvva4hwnuz/7Frf/LDL+C8ev2LUzvHeax7cpbZ+3wawjfhgICAgICALSG8hAMCAgICAraEM9PR2US/blclfSh72aKNfk33BTL+UPAeUxyfAg2NpRtaZBVWyFxlImQEWYA8tZzYZATqJFUKNQMd7GKlKNKsJ9ZRK71ZwSNyhUzA9Xymn1/Dt1QsHXx4qp+bnSilVMKrtqxAv6d2XB8c6b1tYEIwOq8U9AYF70li7yUfgFID7Rgjw1HWSu02MAcoe96ZpEpPFjoWj+/rvSw3OsZVT9z/BDTQQ2RCVgudixaZlH6l/q4XLyn9LiJSQUT/MTLSG2QU1whltE3v/85I74VryZg2QOil7fkUbArtcwzhEudIFWo7hslDnNiQBbPIo3TatcuV9rFazLr2cKA0vYhI1SjV3BQYCwpkQMjA9Z5dClGsTvEHZM0Ph0qt5hTaaXtZvLhOhAqEluYvonNcLyztKhmoQyh0tEhDdiVTqLGORaQFtR+VzCjXe2zxHYRCNbKyk+yQ0V67mfYf4YDYY09re5nejhsW1gKu77DGnPTXBfoCUQ5Pz2tk5DqIxsS1neN4pOEzXj9DVUu1QTb9pucnjIqVpkaYANntHJcIFSru26SdYLiCUMpwoOulwfGrpaWAEdWUokYoaQmfZZzLezuvfC4rmMrcevSuXhOmJutKz3vhwtScK0PI4dKBmlH8yJ/5EXkawjfhgICAgICALSG8hAMCAgICAraEM9PRe8iQPT1VqqiY96hKZCG7nP6uSgvEoMHogfrtvdNrZihGf/4ZpVqvPXeta697XOGTu4+6dg0KOkkgUJEio3m3JzzSgFImbQmBktGu0rY5MjJH+5Yeix4ohZzugh67BEovR1ZkL8NudVd/vvS8HvPRl1RbdlEq3dNWveu3oGvA49QVs3C1nYLe8zhWRKSqkGE7QrYr6LEEdKT3ti/U5m0RvnDIMPVzHa8FaOphavVjr137hN7LRoVPDk/h/Yks1rK2lFjCzFf8voK+eCOoBqitLqwDRRWNEeZYQbc80eu3CAvEPZrfualeB/Rc6/T46b5S0NPzz5rjb91E+AQZ3fmuPi+sEohje33vkFUa6/GrkrrtOi+zQw0TtL0MeE9/WmQEGz4f1DKFMz7oAHXEsUYoUMLM2Z52tG8Q/gLtmJ2/oF1Z61qioEZT2ixaR2/l4RS3Am/gFs9rZkNRcYQwRQmvX1QjeFZ8VPr5KLLVJxLrs4ilJOlEjy/nCHct7f7qhqCQMx2jCtQ+Q3+N680rhVcoBg1q2uF5SdDJwcDuI7v72DtxrhpPYlPpeS/0dLB3J9OujUig3L2v81owMmAT6CXfwfofIJS41v4/PtE97Zd/45/gaCssNRjrvUU7evx/8l/8JXkawjfhgICAgICALSG8hAMCAgICAraE8BIOCAgICAjYEs4cE44RR5ycR2r7riXaqwKxuBVKC8DNv/CMptO/8Kkf7tq33/pNc663v3mva5f0ToX353BP42JJLx3/yVhjI3feeqdrXxrp9e8/0LhxwbIMERGU8ojXmBNjwoMdpM3XGgsaDO3/N5u1nrw+REx6pNdIEVdJeyUfq6Ve88kjHeN7N2/oMbmeazixAuMRYowRTJ9jyObEkR7vW8SreuG6GN6jVBUTlP9kKWIkiY1LpTAOSFO9To0yjxVi1U8ONS4Tz2yZwksv6fEXnvverj1/4+tdu6QgfmknOYKpa76jpQXtWtfIeqVx0H6Fk/UR1YFKoLDmMIAMjy6eaEmZiEgGRaD9Z7QkcLSr5zp/Xvs42LFx0MO78D7Ntf8J4rMxYllVYwXtk1TPRwUgymHVNdYx1L9YOiQi4jDncYK4O+7fIyZO/2URkQbz1NQoM0Fuh/WvsOsiTeHBDGWuCmV4fKapHiXebosNfmyxdmPE+ile5r3tS0PTCeTGRBg/5k1AeE7yXhy1Rex5eaLqcSyVSzOUOu7Yca0L7Uu9hMlGDv9urNd02L8+1vIGez/Ux9KRXnN6oJ+/cGDPlUBSsUL/Iyp2tTpG1/etQc+PfvEzXXuO5/An/+ErXfvdB+q9Xjm7D2Ve+7mPZ/8UJX0nR/QQRp6Bn5lzLWaaH5GJvc+nIXwTDggICAgI2BLCSzggICAgIGBLODMdnQ5Q2gGPyTa2p3Ck5Iagy0DxPHioNMajx7/RtZtiZs7VwNDAQ0Xm7XdVxeTOw5/v2ufOT3t90WOGsdJwbQ2lHlBthdgU+M0Cyi9OaawMVLOLtfzDgcKNMksVtqA9a9A9JWjmpJ517XRtSxMWC9BgubZPHyiNU1PEPrUKRPkEIv6glFqoJHkc4yu9X1/3VHNQmpGNdfyO7+s9FqXSWymUpEREWpgeDBCnyIwZB/2r9fdGrU1ETk6U0r30nBpzvPjx57v2rVu39bzOUloCcweK69coPfINqc2eMlOs/Vke6rqK4Ge8u68+ycNcr3Fa2xKhxyhjW2D+Y4RPbrz7ja493rW0V7FRCvfkAdbrQMf70vUPd+1BbkNJbQWlIq9+0PSTHgy0/+MRyt5OLdXXeoZyUM6BkjSOfdtXU4qpXoZz45mOhlQ7swpxxmsZFG5Tal+iSMcLp5Wm5wcsoETbGgpQUFVjhVTbU/6LQClTpSqGylMMj3KHMS5XPTOJEfYYlMRVpa6dih7ZlX12IyhrQbxNmiWNQUDf11b9y2Uor0S51hCGHx/5mJoeTDJ9dha9Z7dxWCN4p8RUGKP/cq+adQ1v72fP63P9A194rms//lXdew43vdIzMPUDGFUMd5WaTkQ/NDvVPc031jMY1V5SbWwI4GkI34QDAgICAgK2hPASDggICAgI2BLOnh2NzN9oB8LXpzYT0IiVQ+mnKCECD0WV/QM976K6Zc41R/Zki2MaZGImpdINq5WlChvRjLUKClBgl6RqlEbxsaW0SDEkUBdKoXSTgI5PoQQ1zmxKcQlDBdizSguav0Aa5snKjmux1vscTpTGGu/CJ3iJDMWBUqAi1la0Am1eF6AEW3gbb0DNljZTm4msKTw9Jwg/kMYpWrvMoA8vJag/Cs87piFDwWhVWnrszXf0b4dHN7r29/7gH9X2l/71rv2rP/u3zfGv/Mares1c+9lWoOnpO1vbeaGgENWBWtzz0SOl3bIM6lmNpeda8IPtAmpCia7jca4TOT1vqfWTY5hu7CKUApo/Ax25M1baTcSGSRwy6BdQL5ufYlygiNc3cmlb7UtDrtaTEoQyU2NVplpUQ9BOOAb9HzV4XpOenzD6Y+jVuc5LRXMBdN9lPSUz+PMalSvsbzGym5PI0p7SfOe2xxhXWG8x1MKiiVVmqk7h+Yys6zS/hk/pueriWIjGKwVP9bQI5jctKGfX80Z2rVZdeA8VQFRDpEPsaZWGNaLeHI+Gun6XiY5ZBYMXB//s442d46+/o+euMUc7u9rHCUIBx337bqe/KDiXeI6jNcYCazfqvTnTgfaTvuZnQfgmHBAQEBAQsCWEl3BAQEBAQMCWcGY62uX0i0RWXmWzgItWKQrfIEMXNE7rle4hTd0mlkKNcs2CFg/qqZ1pE4XR80XPxxN0T5oqRfNgrZzQ3/+ln8IRNjs6QVbuCAYSu2OlVc6d10zAATw5d89Zqq9Ecff8jhaQr9747a5dQRwk6vkJP76j2a5LebNrrxuMJYRSykZFSEREhhPNHM6GmuWXw8c0EmZlIpu7l5UYgTYuQRet4eO5XGu76hlr1Mh8LSGw0sKD+Wip9/vkBOOS2Dnen6KAPtVr3n5Ps+4PIA7zsc9af8/De5pdffu+jpl3oAEzPa/rVQNEzJxGim0MvipJdI1mMLxoKptFW8CbebPRMd7ch2FKQnrShm8iCCvQH3XxWEUd1nOlysZPdE2IiLQRPbtxX/hfvVigsgD0eZpZYwsBjQkvD1Pl4PLmO35GxIaMWpgxCDKShXPRE2JokKHsWxij0EwkYXqw7ltR32cZnWFowoHObFiZUNnKhAh7n6PpBHySmapLn+W4sdR4i3DCZqNzGSGUEGGvi5wNsbmYmf46Fx5UbwtxlMjZifHwE+bbo8Rev17qeh1nKvqyRvb+B32BAYbnO0V/v9nos3/a9vyEHykd/ewl3TuuXVXP5Geuq+HJzRt3zPHFWs9XYZg81nWNPcnj+S43vfALTT92erz3UxC+CQcEBAQEBGwJ4SUcEBAQEBCwJZyZjl6WSguUKHouT22GZwXvzSvnlEr5/A//2a49AGX9ja99pWu/9xboZxGJPOkepYSSWCmSg33NhLtwdWqOj6ExzaztJFWKYgHqYzGzWr5FOdPjl0rRDJCdnOTqXTkcaLbflWdtJt/4nNJIcaXH7z37ka59+YLSZsOxpTvKjY7rZufFrn2rVdp7XSvt6DeWEkvhUbq6hez2Uo+pY6V3IHUtm0LpcxGRNairBuIL1clMPwQWa7/HVI6nOk4NhAXmKObfYB017XemrURE5qegupFVuTN5v2u//pVf7Nq33rdrjBRVC6EZQxt6evvakEWLNUY6XoSZ+mt8Rn8b9fSWY1w/5W3CQ7YFJXbypEd7QhSlwfw3DUI2JxCncTZk4UA9cv00EFQhVTscITu7t95qzGsUaYauB00ft/CP7gmUt/DmFmTtO4wZM6qbqicahDTkiMOMkFEEHWh+HfG+x40j5BXhvC7W8fYUmLai1uJQmpBEDP/og7FZ67p0ZMnrnqAKsvM9rl9DaIUmus7Z4xOEDVqn7Sbl2sGe3vN5djnWNcJ9PkWVS6mf2bCyoqfJ7aBjXW30+psaVRqo5Eh6r6vxGNrPexqmOZ3r8fff132A7wMRkRz64jF8mwtUjKwwL9yDpVfZwMhSXPY2vKcgfBMOCAgICAjYEsJLOCAgICAgYEsIL+GAgICAgIAt4eyKWaVy/uVGCfDK27gW40eLhX7u9nvf7NoeZQZ37ypnX7tedxiXQ8mBQ4lUDt/SQW6PrxCzODrR2MjJPfUtrlAyEYnl+RvEGBkDWG80duwXiEtBUPze3bfNuSKo6KSIo/7B369xje/5nj/UtbPM3st8rD8PxhpTf/aq/n6xRFnL3MZyzp1X3+V8jLjShqpkGq+qSsSYhi+bc7EcJZ9ozGd+W+95Vegc1b0aJzfQeoAjmB5843e0rCiDAUYEcfeqsediOYPUGr+ZzbT8pq01ELte6tiJWK/ftmLMCKVQDCr21L+iFF7Fwjgq1L8QL2JZS1v24qBG+B/jDxH9GLU88djG+wQxxpYqVQ4BfqfxumppY1dRq/kNDvFah/KfqoDiFAxX6FMsIhLHWgZH0wtvSnQwl67/fQDlUlTah0SZx7wkqS1fibBH0EO6aqHaBA9dKVEK1FjFK9dqvLJFfgDNasQhb2Foxf3jBIpbBfIxmpn+fgD/Z1zfxbYE1EHZKmGFFj5XreENXFhf8RZ7TyR6XxHNNFBC2DY2jurw/HmoGBYrvZcC5YWXLl/QY5GzIiKygUGPG8B/GuO3WOj+MhTbl6vndS73R3qfd55oDssx7aNbm7eQ5FD5SmlwAxVErMsUZYtN0isdw7PbFEExKyAgICAg4F8IhJdwQEBAQEDAlnBmOtrXEK+G2HhSl70PKpUxXyot8o2vfrlrk57zUNbxPWUlliJdvKjUweXLSj2MMlVHca5PVYJSbKnMhD7TK7SnDlNBBQWMlDj4zpLq88hT9z3VnQRKPZMpaLSh9rGGetRoYO9lOtHjpweqLHZpBH9PlCslAqpNRFIIpPvyateOHGjDnNS20rbNytKeLp917WyNcrUjLXGqIKieOEvzx5HSw8sjpUAPHynNX8Lnua7+OQr4PSzhe/z+DaW+xhOWolgFISNuFOF/0kipLgdqNU579CBKQ+KxrlHXkkJW6or0db8ShhbQDl65yxNdYxv49hZzu8YiKHuNIVw/2NeSvBzKb9HQHn94k1QxfIPHWoqUZNrpxRzlaStbuuVz+DSTtYUqnI+UDvdJL2RhaH8+xzC5YF0IS5pEJIGBRXZJ94voEUpxWg1Z1Cw56e1DMfvpTvAxKHFRFau1321aKGA1UOVzjT6vMZQDBc+qA5X9wQ3ouGyWoJPhChPhM62zCnMpagcTmIHA4ltqlINu5vbZZbmci0EPo6zn5JZe81GtZXDnL9iQxRgOOSWe8TVCOaOB3te1sZ3j61eeQb9Y1gR1x4GOdzzoKfeBnj4tlbfOM52XvanuF5GDkYndXo0BSPNtJW6/O8I34YCAgICAgC0hvIQDAgICAgK2hDPT0ZN9zXLzA/0uPp/ZTLANVI8caI0WgtcRlEqE2XY9o4AEAu8H5y537XOXlAbZnFp6kIjh6Zs4+CG3mkU7n8HHs0c1RinUbegRCqpOIKjfIAu4FZuJF+8pVTiZaP/HE6UK21apl7qxNBIzSStRWmQB6qysVJkoxf2KiIwGKqTepvq59UzvKwFlf+mCUlXZYGrO1XrtWw7v0MO5qk/dOQSd3Nj/9fIcYu8bHYsZjDWWUNOJEJZIIktJuUypq9Yzoxj9hW9q3Vra1KU0B8AcN7qufQ1x+cLOq4D2j6nSFOv4txnW+Fop+9hbqrGF53TDLFojFq/nygc2Q5NG1TG8nUmzz57o2mmdzSgWjHMM2rpGaKBBdnXDTPW+AwPMT8haema4wiQiS21GsYMHMATTxGPLigUKd4l9do3YfqVz5KFeFcGLnDR721NWavHsN/D6daTQoQbVlD1vY2Rxp5nuYw4c8OZUadsImelJbx+JEMrJWA2Sah9jcKNx37PaVJno3jWYIEwClStf9gwckIXtoWbVDPQ67VDvf7bRvWKwsH3Z2dP1vqJ6Fj4zwZ58dd/S2R+9quGEE1QavPHq3a69WUCtzNnQaZ4jZJFqyCKJ9fcN1A0lQmVFryoogjFGm9i992kI34QDAgICAgK2hPASDggICAgI2BLOTEe/86039AcyXaTzRCQik8OsSHh3emSUtuCgo9h+xU8TpagaUILFklQlO2Mp3ARZiskI/TyCID0oyLbqZQIyrbNChiSzrpGJKCiEpzeuiEgBeu4RBCLefFsFLq49/1LXfv6qpV1j9DNGVl8NSi1CAflobKc2TeA1XOrfMjfr2jnGMkEWZVTakENRgt6tlaKhvymL+ovaZiU+fqBjc+OGFtY7ZBVePNA1kg517sYTKzBxfld/XkJEf7aZde0MnqabjaWkljP9nGSg8SCWEcXf2U9WRKSG73I8AiUF04FhotmWo4GKpsSpnaMMmbA1WMDT2T3tC6jlvT2tDBARWcw1zFCsQeemerKdoYaVVhDbELFVC6Mc5gyg59YwAsngUe16BgoJqNp0qPNd1fAMh39xBppWRKT18HamiAoyh3dSNT+ZTKwXeTrGsz/QY6q1jvFD+HrTf7nt0ZZkHsuStDWePW6KbU/IAdUYvoBXMMJt00u6RvNI+zg5sPvICy/q+vnQFaWmhzuf79qzOyqANLj4vDn+eIY+I7QwHWmVws2vvda13783M8fPa6QFg04vW12LIzyvL1+edu3PfQTZzCKS5ronPX5M2lvn7uCCUtYXIyhviMjHPqJr5nCpx3/lCkRr3rihfSzt+yHGms09QhZe1z7DgFmO8FFPNIi0tduxvslPQ/gmHBAQEBAQsCWEl3BAQEBAQMCWcHaxDhZ9Iwu4KnvZpsjmi0HdOZN5Cr9LiGW4tKdTiozLDJSWRybaak6v057YBrJy53OlTdcriGpAlEF6ohItvUOpeYvPUL9WGgqC2HEpkVgH3Q/ZrDRTm3Ru40AHihht3Rbjt1lqew295yyzY1kWSuVsCtx/q9RNggzPGLRn5S0ltq5m+jmH7EPoB49yHYss6mUlIpPy4Xk9/vZ97dcKIiAtNLx9aymlA4QZHARRqpLiCzqu6574wArZyuw/RVRWjU5e2dPBpvdqgtBE4hEagHDFzjk8ct5mvq4WSokdnsBfteAzovc4r63/tSDDNHbwvGZGecuMbDuWRaHXXK91vSS5jkuM7rfIzPf9LFxcv1kr7djicw5hCp9Yz+rRWNfvaA80PbPeEW5qGpuRvJd9omsPhpq1fwoP3aJSCna90L6MDmyIbTJUStRjH6sQImtBU6e9fUzgIeyhxTzaVTo/hzhPtdJ5Ge5YcZmLFz/WtZ97RveODOcaOl3T4+f19yIiI00clhqa5EM8ownCF/t7Niw2jTS0crycde1T7F2DXKnp6UTn7uolWw2whM/1eIlKmB0dowvntP8Xeuv1YArRplz/9qXv+VzX/uZ9XRevfeMdc3yDOSvX8CPYwfsJU8kQWxzbNdLCl7097ldQ/O4I34QDAgICAgK2hPASDggICAgI2BLOTkcLKVyl2uLIZjQ7JgkiQ9PX9N1SSsqjsLzp0Q2rjdKAR4c3unaBbM35UumGzNuC/50xxDYSpWhaVv/T3qpnp+aY1Auq0YGqjTKlRDwokSgi6SwmE7RBkfvxsdIadx4opTPKNSNWRGQxR1boRb3mhQvM/FV6Kk7sWHiIPDSNUicr6EIfzyniATp0Y2n+GmthX9kpaY+Uwnwy07mb9Yr0F7Awu3lLMwkPF0rhr1boL6ZldmIFJm7ffRc/IcMVChFxpuNa9zIkmRK8D9oxiileANq0tfQchkJcofdZQfv4cXuja+/k0HHOLdX44I7SpscLZNTC2i5mWCSemuOL9Uy+MyDC4fQYl9t5bRvooOO58AwnwBZSPHV17bzEQ+gqw4qwgfVkgnATs/FFRBYznfTyJsI02CMi0OEutmGCKNJqjjjRY9I9zdBlyKICNbt8bOnkY4jjGBERjFHL/S2y691B3CeBJezuOdCuL+jvEwiPzE9spu3d23pf16GhP8W6KBG+ycpemADrMsJaiJNb2l8E3PrhH4lgl4q/3bujoZSb9/SZPH5P575c2HN96mMachuAsq8QLpsvde7zyK6xNcInLcRZvv/jmkH+ZPTvdO2/9ug/NMffejjTayIDP13pXIwQWmhr2D32wi+sTKHd5FkQvgkHBAQEBARsCeElHBAQEBAQsCWEl3BAQEBAQMCWcOaYMPXZPWSxfNJTB4mV548h1O8ZY4N3ZFuyrKKnvgWv4qP7s659fIjyl7Hy9OmkF3uM9Jj5ocYsasZv4G8qzg6HN76gvE94ssZQcfFaytGPC0SIxaSIUQ3R572dadce7/XiUjHS5gvtywBDdvtQf//jP/E/muNf/abGaeIKJS8wGvADneT1Uu/L/y4Z91QKop9zYwTOeyUbxhNYbyAaUY1Ix4XlKlfOa7xHxBoyPLirMe0Samd1Ad/U2K6Rgwsai8ogEH9a6HppY8T0Mlt61iTa/zhDrkABP2V4sB6udE3P79w251qdany+QQ5BW+u5PGKfSWL7wvIh6v43KBVs6DO96Xszf+eJpgcw1bM81e56hzqoyrUoQ8xQXnjpgsbHP/7ZP2WOP16o//jXfv2bXbuGqlpNla7e8xZDdYqP9WaJEimYZET4UJvZcWEOicMe5T3NanC/lR2MGmuRvuwuRhlePcRnYCqT2GcnR0qCsWCGxzkV3qLIlgVVdDap4a3MZzRF7HZgyxMbjAVj14ORdoxx58Nj3ZNu3NDnU0TkmWc0ocTDfKZBrH+51nKnohcTjg7wLNczbS415yWBT/MLz9k8mdla/7ZEe73Qc20qzXtoW+RM9J4VF2Et5f3n6ndH+CYcEBAQEBCwJYSXcEBAQEBAwJZwZjq6QZq9S/G1vLYlG1GllBo9PT3oxRjlPiydqUtQZSIimdKIFWgo2ejnVmAoTmaWauS56feZJqBOIoqt27Iik54PBaQI3p0SQSwcIuDiLPVBRZ8c1NcOlMD2xnqPQ7H+qJTpKkDXzE9Vaahcav99bemSorDUpXYaY1Z9549I1OsLyzRAwxmWGSpNzlk1I3puCKjS1pSp6P+HQxww3bkkxHqjqkcu/s4ewK5BKUNjPUlP4Kc8yPVzFeaL4RPp0Xs5rnMwQskOxP1Xhfb/+AQmC0tLoXp4vRoTAMx33SgdSvMOEZFkCD9hrDG/ocwVJ6mnUAeqmOpvNAT2Gea70ofvYMcqvI2fUXOF1fHNrp0PlYK+dKBrJE7t94HlIy0pnE5RHpnpPa7mel8ru8TEk2pdorxwFyEyrN1mA8q/p4rGsktTxQj/banhl95YCjeKsXcgrucKrBf6FPN564VPqlLXzwZrb5ThfnGuYm3V6mxkQX9o8Ow5PJNJY0vHMpSbHYz1vmYTfScsThDWQkhvtoBsoIissXmPsCcvES47fax9nIsNfbYjLemjF7zb6HmbTMfvw5d07YmINJHuJa++qaYXRxXLANHnGCGmnjqjR8jLF9bw5mkI34QDAgICAgK2hPASDggICAgI2BKc994//WMBAQEBAQEB//9G+CYcEBAQEBCwJYSXcEBAQEBAwJYQXsIBAQEBAQFbQngJBwQEBAQEbAnhJRwQEBAQELAlhJdwQEBAQEDAlhBewgEBAQEBAVtCeAkHBAQEBARsCeElHBAQEBAQsCX8/wAnBsCrHR3u9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79141"/>
            <a:ext cx="4308884" cy="1143000"/>
          </a:xfrm>
        </p:spPr>
        <p:txBody>
          <a:bodyPr>
            <a:normAutofit fontScale="90000"/>
          </a:bodyPr>
          <a:lstStyle/>
          <a:p>
            <a:r>
              <a:rPr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DSNet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137" y="1810701"/>
            <a:ext cx="8229600" cy="3988891"/>
          </a:xfrm>
        </p:spPr>
        <p:txBody>
          <a:bodyPr>
            <a:noAutofit/>
          </a:bodyPr>
          <a:lstStyle/>
          <a:p>
            <a:r>
              <a:rPr lang="en-US" sz="2500" i="1" u="sng" dirty="0" smtClean="0"/>
              <a:t>Deep Auto encoder Un mixing </a:t>
            </a:r>
            <a:r>
              <a:rPr lang="en-US" sz="2500" i="1" u="sng" dirty="0"/>
              <a:t>Network</a:t>
            </a:r>
            <a:r>
              <a:rPr lang="en-US" sz="2500" dirty="0"/>
              <a:t>: Designed to extract subpixel-level </a:t>
            </a:r>
            <a:r>
              <a:rPr lang="en-US" sz="2500" dirty="0" smtClean="0"/>
              <a:t>information </a:t>
            </a:r>
            <a:r>
              <a:rPr lang="en-US" sz="2500" dirty="0"/>
              <a:t>from </a:t>
            </a:r>
            <a:r>
              <a:rPr lang="en-US" sz="2500" dirty="0" smtClean="0"/>
              <a:t>the HSI.</a:t>
            </a:r>
            <a:endParaRPr lang="en-US" sz="2500" dirty="0"/>
          </a:p>
          <a:p>
            <a:r>
              <a:rPr lang="en-US" sz="2500" i="1" u="sng" dirty="0"/>
              <a:t>CNN-based Classifier Network: </a:t>
            </a:r>
            <a:r>
              <a:rPr lang="en-US" sz="2500" dirty="0"/>
              <a:t>Extracts spectral-spatial information within the HSI to obtain pixel-level class features.</a:t>
            </a:r>
          </a:p>
          <a:p>
            <a:r>
              <a:rPr lang="en-US" sz="2500" i="1" u="sng" dirty="0"/>
              <a:t>Subpixel Fusion Module</a:t>
            </a:r>
            <a:r>
              <a:rPr lang="en-US" sz="2500" dirty="0"/>
              <a:t>: Integrates the abundance information and class features to ensure high-quality information fusion and enhance model representation capability.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2" r="11181" b="-7365"/>
          <a:stretch/>
        </p:blipFill>
        <p:spPr>
          <a:xfrm>
            <a:off x="1383364" y="2338173"/>
            <a:ext cx="6201001" cy="2893647"/>
          </a:xfrm>
          <a:prstGeom prst="rect">
            <a:avLst/>
          </a:prstGeom>
        </p:spPr>
      </p:pic>
      <p:sp>
        <p:nvSpPr>
          <p:cNvPr id="5" name="Title 1"/>
          <p:cNvSpPr txBox="1">
            <a:spLocks noGrp="1"/>
          </p:cNvSpPr>
          <p:nvPr>
            <p:ph type="title"/>
          </p:nvPr>
        </p:nvSpPr>
        <p:spPr>
          <a:xfrm>
            <a:off x="369065" y="627177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dirty="0" smtClean="0"/>
              <a:t>Given Architecture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524354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2015" y="297455"/>
            <a:ext cx="3690650" cy="253388"/>
          </a:xfrm>
        </p:spPr>
        <p:txBody>
          <a:bodyPr>
            <a:noAutofit/>
          </a:bodyPr>
          <a:lstStyle/>
          <a:p>
            <a:r>
              <a:rPr lang="en-US" sz="2500" dirty="0" smtClean="0"/>
              <a:t>Obtained Architecture</a:t>
            </a:r>
            <a:endParaRPr lang="en-US" sz="25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306" y="752749"/>
            <a:ext cx="4392355" cy="598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05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816" y="121186"/>
            <a:ext cx="4726237" cy="651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637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897" y="436467"/>
            <a:ext cx="5449060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7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545" y="274638"/>
            <a:ext cx="8229600" cy="1143000"/>
          </a:xfrm>
        </p:spPr>
        <p:txBody>
          <a:bodyPr>
            <a:normAutofit/>
          </a:bodyPr>
          <a:lstStyle/>
          <a:p>
            <a:r>
              <a:rPr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Mathematical Representations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545" y="1117601"/>
            <a:ext cx="8229600" cy="3713019"/>
          </a:xfrm>
        </p:spPr>
        <p:txBody>
          <a:bodyPr>
            <a:normAutofit/>
          </a:bodyPr>
          <a:lstStyle/>
          <a:p>
            <a:r>
              <a:rPr lang="en-US" sz="2500" dirty="0" err="1" smtClean="0"/>
              <a:t>AutoEncoder</a:t>
            </a:r>
            <a:r>
              <a:rPr lang="en-US" sz="2500" dirty="0" smtClean="0"/>
              <a:t> </a:t>
            </a:r>
            <a:r>
              <a:rPr lang="en-US" sz="2500" dirty="0" err="1" smtClean="0"/>
              <a:t>Unmixing</a:t>
            </a:r>
            <a:r>
              <a:rPr lang="en-US" sz="2500" dirty="0" smtClean="0"/>
              <a:t>:</a:t>
            </a:r>
          </a:p>
          <a:p>
            <a:pPr marL="0" indent="0">
              <a:buNone/>
            </a:pPr>
            <a:r>
              <a:rPr lang="en-US" sz="2500" dirty="0" smtClean="0"/>
              <a:t>            Encoder: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238" y="1453114"/>
            <a:ext cx="4991527" cy="799136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651791"/>
              </p:ext>
            </p:extLst>
          </p:nvPr>
        </p:nvGraphicFramePr>
        <p:xfrm>
          <a:off x="1560945" y="2252250"/>
          <a:ext cx="6511636" cy="574077"/>
        </p:xfrm>
        <a:graphic>
          <a:graphicData uri="http://schemas.openxmlformats.org/drawingml/2006/table">
            <a:tbl>
              <a:tblPr/>
              <a:tblGrid>
                <a:gridCol w="6511636">
                  <a:extLst>
                    <a:ext uri="{9D8B030D-6E8A-4147-A177-3AD203B41FA5}">
                      <a16:colId xmlns:a16="http://schemas.microsoft.com/office/drawing/2014/main" val="46135014"/>
                    </a:ext>
                  </a:extLst>
                </a:gridCol>
              </a:tblGrid>
              <a:tr h="57407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89813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355973"/>
              </p:ext>
            </p:extLst>
          </p:nvPr>
        </p:nvGraphicFramePr>
        <p:xfrm>
          <a:off x="392545" y="3144623"/>
          <a:ext cx="1260764" cy="365760"/>
        </p:xfrm>
        <a:graphic>
          <a:graphicData uri="http://schemas.openxmlformats.org/drawingml/2006/table">
            <a:tbl>
              <a:tblPr/>
              <a:tblGrid>
                <a:gridCol w="1260764">
                  <a:extLst>
                    <a:ext uri="{9D8B030D-6E8A-4147-A177-3AD203B41FA5}">
                      <a16:colId xmlns:a16="http://schemas.microsoft.com/office/drawing/2014/main" val="34365847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890528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115866"/>
              </p:ext>
            </p:extLst>
          </p:nvPr>
        </p:nvGraphicFramePr>
        <p:xfrm>
          <a:off x="1267719" y="2073787"/>
          <a:ext cx="5840248" cy="3021255"/>
        </p:xfrm>
        <a:graphic>
          <a:graphicData uri="http://schemas.openxmlformats.org/drawingml/2006/table">
            <a:tbl>
              <a:tblPr/>
              <a:tblGrid>
                <a:gridCol w="1123527">
                  <a:extLst>
                    <a:ext uri="{9D8B030D-6E8A-4147-A177-3AD203B41FA5}">
                      <a16:colId xmlns:a16="http://schemas.microsoft.com/office/drawing/2014/main" val="1543883824"/>
                    </a:ext>
                  </a:extLst>
                </a:gridCol>
                <a:gridCol w="4716721">
                  <a:extLst>
                    <a:ext uri="{9D8B030D-6E8A-4147-A177-3AD203B41FA5}">
                      <a16:colId xmlns:a16="http://schemas.microsoft.com/office/drawing/2014/main" val="1260216833"/>
                    </a:ext>
                  </a:extLst>
                </a:gridCol>
              </a:tblGrid>
              <a:tr h="127221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355174"/>
                  </a:ext>
                </a:extLst>
              </a:tr>
              <a:tr h="786413">
                <a:tc>
                  <a:txBody>
                    <a:bodyPr/>
                    <a:lstStyle/>
                    <a:p>
                      <a:r>
                        <a:rPr lang="en-US" sz="1600" b="1" dirty="0"/>
                        <a:t>yᵢ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Input 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/>
                        <a:t>vector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910129"/>
                  </a:ext>
                </a:extLst>
              </a:tr>
              <a:tr h="319109">
                <a:tc>
                  <a:txBody>
                    <a:bodyPr/>
                    <a:lstStyle/>
                    <a:p>
                      <a:r>
                        <a:rPr lang="en-US" sz="1600" b="1" dirty="0"/>
                        <a:t>Wₑ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weight </a:t>
                      </a:r>
                      <a:r>
                        <a:rPr lang="en-US" sz="1600" dirty="0"/>
                        <a:t>matrix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013765"/>
                  </a:ext>
                </a:extLst>
              </a:tr>
              <a:tr h="319109">
                <a:tc>
                  <a:txBody>
                    <a:bodyPr/>
                    <a:lstStyle/>
                    <a:p>
                      <a:r>
                        <a:rPr lang="en-US" sz="1600" b="1"/>
                        <a:t>bₑ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 </a:t>
                      </a:r>
                      <a:r>
                        <a:rPr lang="en-US" sz="1600" dirty="0"/>
                        <a:t>bias vector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123464"/>
                  </a:ext>
                </a:extLst>
              </a:tr>
              <a:tr h="319109">
                <a:tc>
                  <a:txBody>
                    <a:bodyPr/>
                    <a:lstStyle/>
                    <a:p>
                      <a:r>
                        <a:rPr lang="en-US" sz="1600" b="1" dirty="0"/>
                        <a:t>Wₑ·yᵢ + bₑ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Linear </a:t>
                      </a:r>
                      <a:r>
                        <a:rPr lang="en-US" sz="1600" dirty="0" smtClean="0"/>
                        <a:t>transformation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921662"/>
                  </a:ext>
                </a:extLst>
              </a:tr>
              <a:tr h="319109">
                <a:tc>
                  <a:txBody>
                    <a:bodyPr/>
                    <a:lstStyle/>
                    <a:p>
                      <a:r>
                        <a:rPr lang="en-US" sz="1600" b="1"/>
                        <a:t>f(·)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Non-linear activation function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442818"/>
                  </a:ext>
                </a:extLst>
              </a:tr>
              <a:tr h="558442">
                <a:tc>
                  <a:txBody>
                    <a:bodyPr/>
                    <a:lstStyle/>
                    <a:p>
                      <a:r>
                        <a:rPr lang="en-US" sz="1600" b="1"/>
                        <a:t>fₑ(yᵢ)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Output feature </a:t>
                      </a:r>
                      <a:r>
                        <a:rPr lang="en-US" sz="1600" dirty="0" smtClean="0"/>
                        <a:t>vector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53131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72" y="419626"/>
            <a:ext cx="159602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 </a:t>
            </a:r>
            <a:r>
              <a:rPr lang="en-US" sz="2500" dirty="0" smtClean="0"/>
              <a:t>Decoder:</a:t>
            </a:r>
            <a:endParaRPr lang="en-US" sz="25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992" y="224880"/>
            <a:ext cx="4981277" cy="75637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347695"/>
              </p:ext>
            </p:extLst>
          </p:nvPr>
        </p:nvGraphicFramePr>
        <p:xfrm>
          <a:off x="591107" y="896680"/>
          <a:ext cx="6714966" cy="2810760"/>
        </p:xfrm>
        <a:graphic>
          <a:graphicData uri="http://schemas.openxmlformats.org/drawingml/2006/table">
            <a:tbl>
              <a:tblPr/>
              <a:tblGrid>
                <a:gridCol w="1097260">
                  <a:extLst>
                    <a:ext uri="{9D8B030D-6E8A-4147-A177-3AD203B41FA5}">
                      <a16:colId xmlns:a16="http://schemas.microsoft.com/office/drawing/2014/main" val="2825329736"/>
                    </a:ext>
                  </a:extLst>
                </a:gridCol>
                <a:gridCol w="5617706">
                  <a:extLst>
                    <a:ext uri="{9D8B030D-6E8A-4147-A177-3AD203B41FA5}">
                      <a16:colId xmlns:a16="http://schemas.microsoft.com/office/drawing/2014/main" val="2844498287"/>
                    </a:ext>
                  </a:extLst>
                </a:gridCol>
              </a:tblGrid>
              <a:tr h="285519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088557"/>
                  </a:ext>
                </a:extLst>
              </a:tr>
              <a:tr h="493740">
                <a:tc>
                  <a:txBody>
                    <a:bodyPr/>
                    <a:lstStyle/>
                    <a:p>
                      <a:r>
                        <a:rPr lang="en-US" sz="1400" b="1" dirty="0"/>
                        <a:t>vᵢ</a:t>
                      </a:r>
                      <a:endParaRPr lang="en-US" sz="1400" dirty="0"/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Input </a:t>
                      </a:r>
                      <a:r>
                        <a:rPr lang="en-US" sz="1400" dirty="0" smtClean="0"/>
                        <a:t>vector </a:t>
                      </a:r>
                      <a:endParaRPr lang="en-US" sz="1400" dirty="0"/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716475"/>
                  </a:ext>
                </a:extLst>
              </a:tr>
              <a:tr h="285519">
                <a:tc>
                  <a:txBody>
                    <a:bodyPr/>
                    <a:lstStyle/>
                    <a:p>
                      <a:r>
                        <a:rPr lang="en-US" sz="1400" b="1" dirty="0"/>
                        <a:t>W(d₁)</a:t>
                      </a:r>
                      <a:endParaRPr lang="en-US" sz="1400" dirty="0"/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weight </a:t>
                      </a:r>
                      <a:r>
                        <a:rPr lang="en-US" sz="1400" dirty="0"/>
                        <a:t>matrix 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135278"/>
                  </a:ext>
                </a:extLst>
              </a:tr>
              <a:tr h="285519">
                <a:tc>
                  <a:txBody>
                    <a:bodyPr/>
                    <a:lstStyle/>
                    <a:p>
                      <a:r>
                        <a:rPr lang="en-US" sz="1400" b="1"/>
                        <a:t>W(d)</a:t>
                      </a:r>
                      <a:endParaRPr lang="en-US" sz="1400"/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weight </a:t>
                      </a:r>
                      <a:r>
                        <a:rPr lang="en-US" sz="1400" dirty="0"/>
                        <a:t>matrix for the second transformation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359887"/>
                  </a:ext>
                </a:extLst>
              </a:tr>
              <a:tr h="285519">
                <a:tc>
                  <a:txBody>
                    <a:bodyPr/>
                    <a:lstStyle/>
                    <a:p>
                      <a:r>
                        <a:rPr lang="el-GR" sz="1400" b="1"/>
                        <a:t>Φ(·)</a:t>
                      </a:r>
                      <a:endParaRPr lang="el-GR" sz="1400"/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Non-linear activation function 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2103541"/>
                  </a:ext>
                </a:extLst>
              </a:tr>
              <a:tr h="285519">
                <a:tc>
                  <a:txBody>
                    <a:bodyPr/>
                    <a:lstStyle/>
                    <a:p>
                      <a:r>
                        <a:rPr lang="en-US" sz="1400" b="1"/>
                        <a:t>W(d₁)vᵢ</a:t>
                      </a:r>
                      <a:endParaRPr lang="en-US" sz="1400"/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Linear transformation of input features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695387"/>
                  </a:ext>
                </a:extLst>
              </a:tr>
              <a:tr h="493740">
                <a:tc>
                  <a:txBody>
                    <a:bodyPr/>
                    <a:lstStyle/>
                    <a:p>
                      <a:r>
                        <a:rPr lang="el-GR" sz="1400" b="1"/>
                        <a:t>Φ(</a:t>
                      </a:r>
                      <a:r>
                        <a:rPr lang="en-US" sz="1400" b="1"/>
                        <a:t>W(d)vᵢ)</a:t>
                      </a:r>
                      <a:endParaRPr lang="en-US" sz="1400"/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Non-linear </a:t>
                      </a:r>
                      <a:r>
                        <a:rPr lang="en-US" sz="1400" dirty="0" smtClean="0"/>
                        <a:t>transformation</a:t>
                      </a:r>
                      <a:endParaRPr lang="en-US" sz="1400" dirty="0"/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264692"/>
                  </a:ext>
                </a:extLst>
              </a:tr>
              <a:tr h="285519">
                <a:tc>
                  <a:txBody>
                    <a:bodyPr/>
                    <a:lstStyle/>
                    <a:p>
                      <a:r>
                        <a:rPr lang="en-US" sz="1400" b="1" dirty="0"/>
                        <a:t>yᵢ</a:t>
                      </a:r>
                      <a:endParaRPr lang="en-US" sz="1400" dirty="0"/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Output vector 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19361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22977" y="4198901"/>
            <a:ext cx="416665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500" dirty="0"/>
              <a:t>CNN-based Classifier Network: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261" y="4170327"/>
            <a:ext cx="3616609" cy="73193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96982"/>
              </p:ext>
            </p:extLst>
          </p:nvPr>
        </p:nvGraphicFramePr>
        <p:xfrm>
          <a:off x="736105" y="4675955"/>
          <a:ext cx="5607545" cy="1219200"/>
        </p:xfrm>
        <a:graphic>
          <a:graphicData uri="http://schemas.openxmlformats.org/drawingml/2006/table">
            <a:tbl>
              <a:tblPr/>
              <a:tblGrid>
                <a:gridCol w="1198516">
                  <a:extLst>
                    <a:ext uri="{9D8B030D-6E8A-4147-A177-3AD203B41FA5}">
                      <a16:colId xmlns:a16="http://schemas.microsoft.com/office/drawing/2014/main" val="4121849310"/>
                    </a:ext>
                  </a:extLst>
                </a:gridCol>
                <a:gridCol w="4409029">
                  <a:extLst>
                    <a:ext uri="{9D8B030D-6E8A-4147-A177-3AD203B41FA5}">
                      <a16:colId xmlns:a16="http://schemas.microsoft.com/office/drawing/2014/main" val="4098754434"/>
                    </a:ext>
                  </a:extLst>
                </a:gridCol>
              </a:tblGrid>
              <a:tr h="24286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721988"/>
                  </a:ext>
                </a:extLst>
              </a:tr>
              <a:tr h="242860">
                <a:tc>
                  <a:txBody>
                    <a:bodyPr/>
                    <a:lstStyle/>
                    <a:p>
                      <a:r>
                        <a:rPr lang="en-US" sz="1400" b="1" dirty="0"/>
                        <a:t>xᵢ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Input </a:t>
                      </a:r>
                      <a:r>
                        <a:rPr lang="en-US" sz="1400" dirty="0" smtClean="0"/>
                        <a:t>image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022827"/>
                  </a:ext>
                </a:extLst>
              </a:tr>
              <a:tr h="284827">
                <a:tc>
                  <a:txBody>
                    <a:bodyPr/>
                    <a:lstStyle/>
                    <a:p>
                      <a:r>
                        <a:rPr lang="en-US" sz="1400" b="1" dirty="0"/>
                        <a:t>fᶜᴺᴺ(·)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CNN </a:t>
                      </a:r>
                      <a:r>
                        <a:rPr lang="en-US" sz="1400" dirty="0"/>
                        <a:t>function, representing the feature extraction 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7471548"/>
                  </a:ext>
                </a:extLst>
              </a:tr>
              <a:tr h="284827">
                <a:tc>
                  <a:txBody>
                    <a:bodyPr/>
                    <a:lstStyle/>
                    <a:p>
                      <a:r>
                        <a:rPr lang="en-US" sz="1400" b="1" dirty="0"/>
                        <a:t>cᵢ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Output feature vector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4034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9679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000" y="755985"/>
            <a:ext cx="3641090" cy="754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500" dirty="0"/>
              <a:t>Subpixel Fusion Module: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141" y="929362"/>
            <a:ext cx="5291127" cy="67768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324349"/>
              </p:ext>
            </p:extLst>
          </p:nvPr>
        </p:nvGraphicFramePr>
        <p:xfrm>
          <a:off x="622189" y="1704049"/>
          <a:ext cx="6835849" cy="2762625"/>
        </p:xfrm>
        <a:graphic>
          <a:graphicData uri="http://schemas.openxmlformats.org/drawingml/2006/table">
            <a:tbl>
              <a:tblPr/>
              <a:tblGrid>
                <a:gridCol w="1663773">
                  <a:extLst>
                    <a:ext uri="{9D8B030D-6E8A-4147-A177-3AD203B41FA5}">
                      <a16:colId xmlns:a16="http://schemas.microsoft.com/office/drawing/2014/main" val="3178913675"/>
                    </a:ext>
                  </a:extLst>
                </a:gridCol>
                <a:gridCol w="5172076">
                  <a:extLst>
                    <a:ext uri="{9D8B030D-6E8A-4147-A177-3AD203B41FA5}">
                      <a16:colId xmlns:a16="http://schemas.microsoft.com/office/drawing/2014/main" val="1489728497"/>
                    </a:ext>
                  </a:extLst>
                </a:gridCol>
              </a:tblGrid>
              <a:tr h="31563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398126"/>
                  </a:ext>
                </a:extLst>
              </a:tr>
              <a:tr h="315630">
                <a:tc>
                  <a:txBody>
                    <a:bodyPr/>
                    <a:lstStyle/>
                    <a:p>
                      <a:r>
                        <a:rPr lang="en-US" sz="1400" b="1" dirty="0"/>
                        <a:t>vi</a:t>
                      </a:r>
                      <a:endParaRPr lang="en-US" sz="14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Spectral feature vector at position </a:t>
                      </a:r>
                      <a:r>
                        <a:rPr lang="en-US" sz="1400" i="1"/>
                        <a:t>i</a:t>
                      </a:r>
                      <a:endParaRPr lang="en-US" sz="14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2337"/>
                  </a:ext>
                </a:extLst>
              </a:tr>
              <a:tr h="364056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Wsub</a:t>
                      </a:r>
                      <a:r>
                        <a:rPr lang="en-US" sz="1400" b="1" dirty="0"/>
                        <a:t>, </a:t>
                      </a:r>
                      <a:r>
                        <a:rPr lang="en-US" sz="1400" b="1" dirty="0" err="1"/>
                        <a:t>bsub</a:t>
                      </a:r>
                      <a:endParaRPr lang="en-US" sz="14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Learnable weights and bias in the subpixel branch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174717"/>
                  </a:ext>
                </a:extLst>
              </a:tr>
              <a:tr h="378683">
                <a:tc>
                  <a:txBody>
                    <a:bodyPr/>
                    <a:lstStyle/>
                    <a:p>
                      <a:r>
                        <a:rPr lang="en-US" sz="1400" b="1" dirty="0"/>
                        <a:t>BN</a:t>
                      </a:r>
                      <a:r>
                        <a:rPr lang="el-GR" sz="1400" b="1" dirty="0"/>
                        <a:t>γ,β(·)</a:t>
                      </a:r>
                      <a:endParaRPr lang="el-GR" sz="14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Batch Normalization with learnable scale (γ) and shift (β)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049635"/>
                  </a:ext>
                </a:extLst>
              </a:tr>
              <a:tr h="315630">
                <a:tc>
                  <a:txBody>
                    <a:bodyPr/>
                    <a:lstStyle/>
                    <a:p>
                      <a:r>
                        <a:rPr lang="en-US" sz="1400" b="1" dirty="0"/>
                        <a:t>f(·)</a:t>
                      </a:r>
                      <a:endParaRPr lang="en-US" sz="14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Non-linear activation function (e.g., </a:t>
                      </a:r>
                      <a:r>
                        <a:rPr lang="en-US" sz="1400" dirty="0" err="1"/>
                        <a:t>ReLU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533237"/>
                  </a:ext>
                </a:extLst>
              </a:tr>
              <a:tr h="315630">
                <a:tc>
                  <a:txBody>
                    <a:bodyPr/>
                    <a:lstStyle/>
                    <a:p>
                      <a:r>
                        <a:rPr lang="en-US" sz="1400" b="1" dirty="0"/>
                        <a:t>Flatten(·)</a:t>
                      </a:r>
                      <a:endParaRPr lang="en-US" sz="14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Flattens the tensor to 1D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470723"/>
                  </a:ext>
                </a:extLst>
              </a:tr>
              <a:tr h="378683">
                <a:tc>
                  <a:txBody>
                    <a:bodyPr/>
                    <a:lstStyle/>
                    <a:p>
                      <a:r>
                        <a:rPr lang="en-US" sz="1400" b="1" dirty="0"/>
                        <a:t>ci</a:t>
                      </a:r>
                      <a:endParaRPr lang="en-US" sz="14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CNN-based spatial feature vector at position </a:t>
                      </a:r>
                      <a:r>
                        <a:rPr lang="en-US" sz="1400" i="1" dirty="0" err="1"/>
                        <a:t>i</a:t>
                      </a:r>
                      <a:endParaRPr lang="en-US" sz="14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350682"/>
                  </a:ext>
                </a:extLst>
              </a:tr>
              <a:tr h="378683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si</a:t>
                      </a:r>
                      <a:endParaRPr lang="en-US" sz="14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Final fused feature vector used for classification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0107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620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15308" y="228174"/>
            <a:ext cx="2713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Loss Functions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47" y="812949"/>
            <a:ext cx="3255624" cy="8486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359784"/>
              </p:ext>
            </p:extLst>
          </p:nvPr>
        </p:nvGraphicFramePr>
        <p:xfrm>
          <a:off x="457199" y="1555684"/>
          <a:ext cx="8229600" cy="1650555"/>
        </p:xfrm>
        <a:graphic>
          <a:graphicData uri="http://schemas.openxmlformats.org/drawingml/2006/table">
            <a:tbl>
              <a:tblPr/>
              <a:tblGrid>
                <a:gridCol w="1096178">
                  <a:extLst>
                    <a:ext uri="{9D8B030D-6E8A-4147-A177-3AD203B41FA5}">
                      <a16:colId xmlns:a16="http://schemas.microsoft.com/office/drawing/2014/main" val="915668031"/>
                    </a:ext>
                  </a:extLst>
                </a:gridCol>
                <a:gridCol w="2313542">
                  <a:extLst>
                    <a:ext uri="{9D8B030D-6E8A-4147-A177-3AD203B41FA5}">
                      <a16:colId xmlns:a16="http://schemas.microsoft.com/office/drawing/2014/main" val="22933619"/>
                    </a:ext>
                  </a:extLst>
                </a:gridCol>
                <a:gridCol w="4819880">
                  <a:extLst>
                    <a:ext uri="{9D8B030D-6E8A-4147-A177-3AD203B41FA5}">
                      <a16:colId xmlns:a16="http://schemas.microsoft.com/office/drawing/2014/main" val="3150303168"/>
                    </a:ext>
                  </a:extLst>
                </a:gridCol>
              </a:tblGrid>
              <a:tr h="33011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5489692"/>
                  </a:ext>
                </a:extLst>
              </a:tr>
              <a:tr h="33011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Final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Combined loss for model optimization.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3432183"/>
                  </a:ext>
                </a:extLst>
              </a:tr>
              <a:tr h="33011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 RE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Reconstruction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Measures input reconstruction accuracy.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135130"/>
                  </a:ext>
                </a:extLst>
              </a:tr>
              <a:tr h="33011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 CE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Cross-Entropy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Measures classification prediction accuracy.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523535"/>
                  </a:ext>
                </a:extLst>
              </a:tr>
              <a:tr h="330111">
                <a:tc>
                  <a:txBody>
                    <a:bodyPr/>
                    <a:lstStyle/>
                    <a:p>
                      <a:r>
                        <a:rPr lang="el-GR" sz="1400" dirty="0" smtClean="0"/>
                        <a:t>λ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Weighting Factor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Balances</a:t>
                      </a:r>
                      <a:r>
                        <a:rPr lang="en-US" sz="1400" baseline="0" dirty="0" smtClean="0"/>
                        <a:t> both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893207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47" y="3738163"/>
            <a:ext cx="4021555" cy="882399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632168"/>
              </p:ext>
            </p:extLst>
          </p:nvPr>
        </p:nvGraphicFramePr>
        <p:xfrm>
          <a:off x="512021" y="4500956"/>
          <a:ext cx="5745299" cy="1681199"/>
        </p:xfrm>
        <a:graphic>
          <a:graphicData uri="http://schemas.openxmlformats.org/drawingml/2006/table">
            <a:tbl>
              <a:tblPr/>
              <a:tblGrid>
                <a:gridCol w="1400715">
                  <a:extLst>
                    <a:ext uri="{9D8B030D-6E8A-4147-A177-3AD203B41FA5}">
                      <a16:colId xmlns:a16="http://schemas.microsoft.com/office/drawing/2014/main" val="928950649"/>
                    </a:ext>
                  </a:extLst>
                </a:gridCol>
                <a:gridCol w="4344584">
                  <a:extLst>
                    <a:ext uri="{9D8B030D-6E8A-4147-A177-3AD203B41FA5}">
                      <a16:colId xmlns:a16="http://schemas.microsoft.com/office/drawing/2014/main" val="3654795691"/>
                    </a:ext>
                  </a:extLst>
                </a:gridCol>
              </a:tblGrid>
              <a:tr h="27512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838660"/>
                  </a:ext>
                </a:extLst>
              </a:tr>
              <a:tr h="27512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8399291"/>
                  </a:ext>
                </a:extLst>
              </a:tr>
              <a:tr h="27512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NS</a:t>
                      </a:r>
                      <a:endParaRPr lang="en-US" sz="1400" dirty="0"/>
                    </a:p>
                  </a:txBody>
                  <a:tcPr marL="0" marR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Number of spectral samples (pixels)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2897815"/>
                  </a:ext>
                </a:extLst>
              </a:tr>
              <a:tr h="27512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xi</a:t>
                      </a:r>
                      <a:endParaRPr lang="en-US" sz="1400" dirty="0"/>
                    </a:p>
                  </a:txBody>
                  <a:tcPr marL="0" marR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Ground truth spectral vector for sample </a:t>
                      </a:r>
                    </a:p>
                  </a:txBody>
                  <a:tcPr marL="0" marR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891466"/>
                  </a:ext>
                </a:extLst>
              </a:tr>
              <a:tr h="275120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x^i</a:t>
                      </a:r>
                      <a:endParaRPr lang="en-US" sz="1400" dirty="0"/>
                    </a:p>
                  </a:txBody>
                  <a:tcPr marL="0" marR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Reconstructed spectral vector for sample </a:t>
                      </a:r>
                    </a:p>
                  </a:txBody>
                  <a:tcPr marL="0" marR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3219929"/>
                  </a:ext>
                </a:extLst>
              </a:tr>
              <a:tr h="305599">
                <a:tc>
                  <a:txBody>
                    <a:bodyPr/>
                    <a:lstStyle/>
                    <a:p>
                      <a:r>
                        <a:rPr lang="en-US" sz="1400" dirty="0"/>
                        <a:t>∥⋅∥</a:t>
                      </a:r>
                      <a:r>
                        <a:rPr lang="en-US" sz="1400" dirty="0" smtClean="0"/>
                        <a:t>2</a:t>
                      </a:r>
                      <a:endParaRPr lang="en-US" sz="1400" dirty="0"/>
                    </a:p>
                  </a:txBody>
                  <a:tcPr marL="0" marR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L2 norm </a:t>
                      </a:r>
                      <a:r>
                        <a:rPr lang="en-US" sz="1400" dirty="0" smtClean="0"/>
                        <a:t> </a:t>
                      </a:r>
                      <a:r>
                        <a:rPr lang="en-US" sz="1400" dirty="0"/>
                        <a:t>of the vector</a:t>
                      </a:r>
                    </a:p>
                  </a:txBody>
                  <a:tcPr marL="0" marR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722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541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617" y="842353"/>
            <a:ext cx="3358426" cy="865844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242045"/>
              </p:ext>
            </p:extLst>
          </p:nvPr>
        </p:nvGraphicFramePr>
        <p:xfrm>
          <a:off x="1355074" y="2006838"/>
          <a:ext cx="5894025" cy="1828800"/>
        </p:xfrm>
        <a:graphic>
          <a:graphicData uri="http://schemas.openxmlformats.org/drawingml/2006/table">
            <a:tbl>
              <a:tblPr/>
              <a:tblGrid>
                <a:gridCol w="1009954">
                  <a:extLst>
                    <a:ext uri="{9D8B030D-6E8A-4147-A177-3AD203B41FA5}">
                      <a16:colId xmlns:a16="http://schemas.microsoft.com/office/drawing/2014/main" val="2673061620"/>
                    </a:ext>
                  </a:extLst>
                </a:gridCol>
                <a:gridCol w="4884071">
                  <a:extLst>
                    <a:ext uri="{9D8B030D-6E8A-4147-A177-3AD203B41FA5}">
                      <a16:colId xmlns:a16="http://schemas.microsoft.com/office/drawing/2014/main" val="23715666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523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 CE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Cross-entropy </a:t>
                      </a:r>
                      <a:r>
                        <a:rPr lang="en-US" sz="1400" dirty="0" smtClean="0"/>
                        <a:t>loss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7515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NSN_S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Number of samples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7933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pi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True</a:t>
                      </a:r>
                      <a:r>
                        <a:rPr lang="en-US" sz="1400" baseline="0" dirty="0" smtClean="0"/>
                        <a:t> vector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465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p^i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Predicted probability vector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5519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log⁡(</a:t>
                      </a:r>
                      <a:r>
                        <a:rPr lang="en-US" sz="1400" dirty="0" err="1"/>
                        <a:t>p^i</a:t>
                      </a:r>
                      <a:r>
                        <a:rPr lang="en-US" sz="1400" dirty="0" smtClean="0"/>
                        <a:t>)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Element-wise log of predicted probabilities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365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757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544455"/>
          </a:xfrm>
        </p:spPr>
        <p:txBody>
          <a:bodyPr>
            <a:normAutofit fontScale="70000" lnSpcReduction="20000"/>
          </a:bodyPr>
          <a:lstStyle/>
          <a:p>
            <a:r>
              <a:rPr dirty="0" err="1"/>
              <a:t>DSNet's</a:t>
            </a:r>
            <a:r>
              <a:rPr dirty="0"/>
              <a:t> performance </a:t>
            </a:r>
            <a:r>
              <a:rPr lang="en-US" dirty="0" smtClean="0"/>
              <a:t>is measured</a:t>
            </a:r>
            <a:r>
              <a:rPr dirty="0" smtClean="0"/>
              <a:t> </a:t>
            </a:r>
            <a:r>
              <a:rPr dirty="0"/>
              <a:t>using</a:t>
            </a:r>
            <a:r>
              <a:rPr dirty="0" smtClean="0"/>
              <a:t>:</a:t>
            </a:r>
            <a:endParaRPr lang="en-US" dirty="0" smtClean="0"/>
          </a:p>
          <a:p>
            <a:endParaRPr dirty="0"/>
          </a:p>
          <a:p>
            <a:r>
              <a:rPr dirty="0"/>
              <a:t>- Overall Accuracy (OA</a:t>
            </a:r>
            <a:r>
              <a:rPr dirty="0" smtClean="0"/>
              <a:t>)</a:t>
            </a:r>
            <a:r>
              <a:rPr lang="en-US" dirty="0"/>
              <a:t>-Measures the percentage of correctly classified pixels out of the total dataset.</a:t>
            </a:r>
            <a:endParaRPr dirty="0"/>
          </a:p>
          <a:p>
            <a:r>
              <a:rPr dirty="0"/>
              <a:t>- Average Accuracy (AA</a:t>
            </a:r>
            <a:r>
              <a:rPr dirty="0" smtClean="0"/>
              <a:t>)</a:t>
            </a:r>
            <a:r>
              <a:rPr lang="en-US" dirty="0"/>
              <a:t>-Computes the mean accuracy across all classes.</a:t>
            </a:r>
            <a:endParaRPr dirty="0"/>
          </a:p>
          <a:p>
            <a:r>
              <a:rPr dirty="0"/>
              <a:t>- Kappa </a:t>
            </a:r>
            <a:r>
              <a:rPr dirty="0" smtClean="0"/>
              <a:t>Coefficient</a:t>
            </a:r>
            <a:r>
              <a:rPr lang="en-US" dirty="0" smtClean="0"/>
              <a:t>-used to evaluate the agreement between predicted and actual classifications , having  chance that they might agree.</a:t>
            </a:r>
            <a:endParaRPr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dirty="0" smtClean="0"/>
              <a:t>Higher </a:t>
            </a:r>
            <a:r>
              <a:rPr dirty="0"/>
              <a:t>OA, AA, and Kappa indicate better classification accuracy.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100" y="444500"/>
            <a:ext cx="7797800" cy="977900"/>
          </a:xfrm>
        </p:spPr>
        <p:txBody>
          <a:bodyPr>
            <a:normAutofit/>
          </a:bodyPr>
          <a:lstStyle/>
          <a:p>
            <a:r>
              <a:rPr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 and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00" y="463550"/>
            <a:ext cx="8229600" cy="9398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669153"/>
              </p:ext>
            </p:extLst>
          </p:nvPr>
        </p:nvGraphicFramePr>
        <p:xfrm>
          <a:off x="1333501" y="1752601"/>
          <a:ext cx="6057900" cy="311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2214848737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668941149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3036250587"/>
                    </a:ext>
                  </a:extLst>
                </a:gridCol>
              </a:tblGrid>
              <a:tr h="954884">
                <a:tc>
                  <a:txBody>
                    <a:bodyPr/>
                    <a:lstStyle/>
                    <a:p>
                      <a:r>
                        <a:rPr lang="en-US" dirty="0" smtClean="0"/>
                        <a:t>DATASET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ACTUAL</a:t>
                      </a:r>
                      <a:r>
                        <a:rPr lang="en-US" baseline="0" dirty="0" smtClean="0"/>
                        <a:t> RESULT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OBTAINED RESULT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774844"/>
                  </a:ext>
                </a:extLst>
              </a:tr>
              <a:tr h="718872">
                <a:tc>
                  <a:txBody>
                    <a:bodyPr/>
                    <a:lstStyle/>
                    <a:p>
                      <a:r>
                        <a:rPr lang="en-US" dirty="0" smtClean="0"/>
                        <a:t>OA(%)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93.08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92.17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656642"/>
                  </a:ext>
                </a:extLst>
              </a:tr>
              <a:tr h="718872">
                <a:tc>
                  <a:txBody>
                    <a:bodyPr/>
                    <a:lstStyle/>
                    <a:p>
                      <a:r>
                        <a:rPr lang="en-US" dirty="0" smtClean="0"/>
                        <a:t>AA(%)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96.31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95.42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841481"/>
                  </a:ext>
                </a:extLst>
              </a:tr>
              <a:tr h="718872">
                <a:tc>
                  <a:txBody>
                    <a:bodyPr/>
                    <a:lstStyle/>
                    <a:p>
                      <a:r>
                        <a:rPr lang="en-US" dirty="0" smtClean="0"/>
                        <a:t>Kappa(%)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92.08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91.12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9882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08" y="3772390"/>
            <a:ext cx="2810572" cy="29449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090" y="3574754"/>
            <a:ext cx="2938309" cy="31426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42332" y="3065310"/>
            <a:ext cx="3536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ACTUAL CLASSIFICATION MAP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4660" y="3065310"/>
            <a:ext cx="3536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OBTAINED CLASSIFICATION MAP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13471" b="-13471"/>
          <a:stretch/>
        </p:blipFill>
        <p:spPr>
          <a:xfrm>
            <a:off x="3009488" y="683242"/>
            <a:ext cx="2751721" cy="26238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66969" y="186330"/>
            <a:ext cx="179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GROUND TRUTH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946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336" y="555613"/>
            <a:ext cx="6496957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471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20773374">
            <a:off x="435166" y="2444961"/>
            <a:ext cx="8229600" cy="1143000"/>
          </a:xfrm>
        </p:spPr>
        <p:txBody>
          <a:bodyPr>
            <a:noAutofit/>
          </a:bodyPr>
          <a:lstStyle/>
          <a:p>
            <a:r>
              <a:rPr lang="en-US" sz="8000" dirty="0" smtClean="0">
                <a:latin typeface="Pristina" panose="03060402040406080204" pitchFamily="66" charset="0"/>
              </a:rPr>
              <a:t>Thankyou!</a:t>
            </a:r>
            <a:endParaRPr lang="en-US" sz="8000" dirty="0">
              <a:latin typeface="Pristina" panose="0306040204040608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333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519</Words>
  <Application>Microsoft Office PowerPoint</Application>
  <PresentationFormat>On-screen Show (4:3)</PresentationFormat>
  <Paragraphs>129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Pristina</vt:lpstr>
      <vt:lpstr>Office Theme</vt:lpstr>
      <vt:lpstr>Dual-Branch Subpixel-Guided Network for Hyperspectral Image Classification (DSNet)</vt:lpstr>
      <vt:lpstr>Objective</vt:lpstr>
      <vt:lpstr>Datasets</vt:lpstr>
      <vt:lpstr>DSNet Architecture</vt:lpstr>
      <vt:lpstr>Given Architecture</vt:lpstr>
      <vt:lpstr>Obtained Architecture</vt:lpstr>
      <vt:lpstr>PowerPoint Presentation</vt:lpstr>
      <vt:lpstr>PowerPoint Presentation</vt:lpstr>
      <vt:lpstr>Mathematical Representations</vt:lpstr>
      <vt:lpstr>PowerPoint Presentation</vt:lpstr>
      <vt:lpstr>PowerPoint Presentation</vt:lpstr>
      <vt:lpstr>PowerPoint Presentation</vt:lpstr>
      <vt:lpstr>PowerPoint Presentation</vt:lpstr>
      <vt:lpstr>Evaluation Metrics</vt:lpstr>
      <vt:lpstr>Results and Comparison</vt:lpstr>
      <vt:lpstr>PowerPoint Presentation</vt:lpstr>
      <vt:lpstr>PowerPoint Presentation</vt:lpstr>
      <vt:lpstr>Thankyou!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Dual-Branch Subpixel-Guided Network for Hyperspectral Image Classification (DSNet)</dc:title>
  <dc:creator>Nitya</dc:creator>
  <cp:lastModifiedBy>Nitya</cp:lastModifiedBy>
  <cp:revision>71</cp:revision>
  <dcterms:modified xsi:type="dcterms:W3CDTF">2025-05-03T18:04:32Z</dcterms:modified>
</cp:coreProperties>
</file>